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eafc83b-3745-fa6e-e5fa-e381b3d5062c}">
          <p14:sldIdLst>
            <p14:sldId id="256"/>
            <p14:sldId id="257"/>
            <p14:sldId id="258"/>
          </p14:sldIdLst>
        </p14:section>
        <p14:section name="The streams" id="{380d6893-3984-96fc-21cb-f456fd26b73d}">
          <p14:sldIdLst>
            <p14:sldId id="259"/>
            <p14:sldId id="260"/>
            <p14:sldId id="261"/>
          </p14:sldIdLst>
        </p14:section>
        <p14:section name="Build and scope" id="{3fb32fe4-2457-d218-35f9-e7a2b96aacba}">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B3A"/>
                </a:solidFill>
                <a:latin typeface="+mn-lt"/>
              </a:defRPr>
            </a:pPr>
            <a:r>
              <a:rPr sz="1300" b="0" i="0" u="none" strike="noStrike">
                <a:solidFill>
                  <a:srgbClr val="0B3B3A"/>
                </a:solidFill>
                <a:latin typeface="+mn-lt"/>
              </a:rPr>
              <a:t>Scripted example profile (baseline = 100)</a:t>
            </a:r>
          </a:p>
        </c:rich>
      </c:tx>
      <c:layout/>
      <c:overlay val="0"/>
    </c:title>
    <c:autoTitleDeleted val="0"/>
    <c:plotArea>
      <c:layout/>
      <c:lineChart>
        <c:varyColors val="0"/>
        <c:ser>
          <c:idx val="0"/>
          <c:order val="0"/>
          <c:tx>
            <c:strRef>
              <c:f>Sheet1!$B$1</c:f>
              <c:strCache>
                <c:ptCount val="1"/>
                <c:pt idx="0">
                  <c:v>Steps</c:v>
                </c:pt>
              </c:strCache>
            </c:strRef>
          </c:tx>
          <c:spPr>
            <a:solidFill>
              <a:srgbClr val="138276"/>
            </a:solidFill>
            <a:ln w="38100" cap="flat">
              <a:solidFill>
                <a:srgbClr val="13827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38276"/>
              </a:solidFill>
              <a:ln w="9525" cap="flat">
                <a:solidFill>
                  <a:srgbClr val="138276"/>
                </a:solidFill>
                <a:prstDash val="solid"/>
                <a:round/>
              </a:ln>
              <a:effectLst/>
            </c:spPr>
          </c:marker>
          <c:cat>
            <c:multiLvlStrRef>
              <c:f>Sheet1!$A$2:$A$8</c:f>
              <c:multiLvlStrCache>
                <c:ptCount val="7"/>
                <c:lvl>
                  <c:pt idx="0">
                    <c:v>Day 1</c:v>
                  </c:pt>
                  <c:pt idx="1">
                    <c:v>Day 2</c:v>
                  </c:pt>
                  <c:pt idx="2">
                    <c:v>Day 3</c:v>
                  </c:pt>
                  <c:pt idx="3">
                    <c:v>Day 4</c:v>
                  </c:pt>
                  <c:pt idx="4">
                    <c:v>Day 5</c:v>
                  </c:pt>
                  <c:pt idx="5">
                    <c:v>Day 6</c:v>
                  </c:pt>
                  <c:pt idx="6">
                    <c:v>Day 7</c:v>
                  </c:pt>
                </c:lvl>
              </c:multiLvlStrCache>
            </c:multiLvlStrRef>
          </c:cat>
          <c:val>
            <c:numRef>
              <c:f>Sheet1!$B$2:$B$8</c:f>
              <c:numCache>
                <c:formatCode>General</c:formatCode>
                <c:ptCount val="7"/>
                <c:pt idx="0">
                  <c:v>100</c:v>
                </c:pt>
                <c:pt idx="1">
                  <c:v>100</c:v>
                </c:pt>
                <c:pt idx="2">
                  <c:v>100</c:v>
                </c:pt>
                <c:pt idx="3">
                  <c:v>100</c:v>
                </c:pt>
                <c:pt idx="4">
                  <c:v>82</c:v>
                </c:pt>
                <c:pt idx="5">
                  <c:v>64</c:v>
                </c:pt>
                <c:pt idx="6">
                  <c:v>46</c:v>
                </c:pt>
              </c:numCache>
            </c:numRef>
          </c:val>
          <c:smooth val="0"/>
        </c:ser>
        <c:ser>
          <c:idx val="1"/>
          <c:order val="1"/>
          <c:tx>
            <c:strRef>
              <c:f>Sheet1!$C$1</c:f>
              <c:strCache>
                <c:ptCount val="1"/>
                <c:pt idx="0">
                  <c:v>Sleep</c:v>
                </c:pt>
              </c:strCache>
            </c:strRef>
          </c:tx>
          <c:spPr>
            <a:solidFill>
              <a:srgbClr val="4F6D7A"/>
            </a:solidFill>
            <a:ln w="38100" cap="flat">
              <a:solidFill>
                <a:srgbClr val="4F6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F6D7A"/>
              </a:solidFill>
              <a:ln w="9525" cap="flat">
                <a:solidFill>
                  <a:srgbClr val="4F6D7A"/>
                </a:solidFill>
                <a:prstDash val="solid"/>
                <a:round/>
              </a:ln>
              <a:effectLst/>
            </c:spPr>
          </c:marker>
          <c:cat>
            <c:multiLvlStrRef>
              <c:f>Sheet1!$A$2:$A$8</c:f>
              <c:multiLvlStrCache>
                <c:ptCount val="7"/>
                <c:lvl>
                  <c:pt idx="0">
                    <c:v>Day 1</c:v>
                  </c:pt>
                  <c:pt idx="1">
                    <c:v>Day 2</c:v>
                  </c:pt>
                  <c:pt idx="2">
                    <c:v>Day 3</c:v>
                  </c:pt>
                  <c:pt idx="3">
                    <c:v>Day 4</c:v>
                  </c:pt>
                  <c:pt idx="4">
                    <c:v>Day 5</c:v>
                  </c:pt>
                  <c:pt idx="5">
                    <c:v>Day 6</c:v>
                  </c:pt>
                  <c:pt idx="6">
                    <c:v>Day 7</c:v>
                  </c:pt>
                </c:lvl>
              </c:multiLvlStrCache>
            </c:multiLvlStrRef>
          </c:cat>
          <c:val>
            <c:numRef>
              <c:f>Sheet1!$C$2:$C$8</c:f>
              <c:numCache>
                <c:formatCode>General</c:formatCode>
                <c:ptCount val="7"/>
                <c:pt idx="0">
                  <c:v>100</c:v>
                </c:pt>
                <c:pt idx="1">
                  <c:v>100</c:v>
                </c:pt>
                <c:pt idx="2">
                  <c:v>100</c:v>
                </c:pt>
                <c:pt idx="3">
                  <c:v>100</c:v>
                </c:pt>
                <c:pt idx="4">
                  <c:v>88</c:v>
                </c:pt>
                <c:pt idx="5">
                  <c:v>76</c:v>
                </c:pt>
                <c:pt idx="6">
                  <c:v>64</c:v>
                </c:pt>
              </c:numCache>
            </c:numRef>
          </c:val>
          <c:smooth val="0"/>
        </c:ser>
        <c:ser>
          <c:idx val="2"/>
          <c:order val="2"/>
          <c:tx>
            <c:strRef>
              <c:f>Sheet1!$D$1</c:f>
              <c:strCache>
                <c:ptCount val="1"/>
                <c:pt idx="0">
                  <c:v>Resting HR</c:v>
                </c:pt>
              </c:strCache>
            </c:strRef>
          </c:tx>
          <c:spPr>
            <a:solidFill>
              <a:srgbClr val="E0883A"/>
            </a:solidFill>
            <a:ln w="38100" cap="flat">
              <a:solidFill>
                <a:srgbClr val="E088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0883A"/>
              </a:solidFill>
              <a:ln w="9525" cap="flat">
                <a:solidFill>
                  <a:srgbClr val="E0883A"/>
                </a:solidFill>
                <a:prstDash val="solid"/>
                <a:round/>
              </a:ln>
              <a:effectLst/>
            </c:spPr>
          </c:marker>
          <c:cat>
            <c:multiLvlStrRef>
              <c:f>Sheet1!$A$2:$A$8</c:f>
              <c:multiLvlStrCache>
                <c:ptCount val="7"/>
                <c:lvl>
                  <c:pt idx="0">
                    <c:v>Day 1</c:v>
                  </c:pt>
                  <c:pt idx="1">
                    <c:v>Day 2</c:v>
                  </c:pt>
                  <c:pt idx="2">
                    <c:v>Day 3</c:v>
                  </c:pt>
                  <c:pt idx="3">
                    <c:v>Day 4</c:v>
                  </c:pt>
                  <c:pt idx="4">
                    <c:v>Day 5</c:v>
                  </c:pt>
                  <c:pt idx="5">
                    <c:v>Day 6</c:v>
                  </c:pt>
                  <c:pt idx="6">
                    <c:v>Day 7</c:v>
                  </c:pt>
                </c:lvl>
              </c:multiLvlStrCache>
            </c:multiLvlStrRef>
          </c:cat>
          <c:val>
            <c:numRef>
              <c:f>Sheet1!$D$2:$D$8</c:f>
              <c:numCache>
                <c:formatCode>General</c:formatCode>
                <c:ptCount val="7"/>
                <c:pt idx="0">
                  <c:v>100</c:v>
                </c:pt>
                <c:pt idx="1">
                  <c:v>100</c:v>
                </c:pt>
                <c:pt idx="2">
                  <c:v>100</c:v>
                </c:pt>
                <c:pt idx="3">
                  <c:v>100</c:v>
                </c:pt>
                <c:pt idx="4">
                  <c:v>108</c:v>
                </c:pt>
                <c:pt idx="5">
                  <c:v>116</c:v>
                </c:pt>
                <c:pt idx="6">
                  <c:v>124</c:v>
                </c:pt>
              </c:numCache>
            </c:numRef>
          </c:val>
          <c:smooth val="0"/>
        </c:ser>
        <c:ser>
          <c:idx val="3"/>
          <c:order val="3"/>
          <c:tx>
            <c:strRef>
              <c:f>Sheet1!$E$1</c:f>
              <c:strCache>
                <c:ptCount val="1"/>
                <c:pt idx="0">
                  <c:v>HRV</c:v>
                </c:pt>
              </c:strCache>
            </c:strRef>
          </c:tx>
          <c:spPr>
            <a:solidFill>
              <a:srgbClr val="D4533B"/>
            </a:solidFill>
            <a:ln w="38100" cap="flat">
              <a:solidFill>
                <a:srgbClr val="D453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4533B"/>
              </a:solidFill>
              <a:ln w="9525" cap="flat">
                <a:solidFill>
                  <a:srgbClr val="D4533B"/>
                </a:solidFill>
                <a:prstDash val="solid"/>
                <a:round/>
              </a:ln>
              <a:effectLst/>
            </c:spPr>
          </c:marker>
          <c:cat>
            <c:multiLvlStrRef>
              <c:f>Sheet1!$A$2:$A$8</c:f>
              <c:multiLvlStrCache>
                <c:ptCount val="7"/>
                <c:lvl>
                  <c:pt idx="0">
                    <c:v>Day 1</c:v>
                  </c:pt>
                  <c:pt idx="1">
                    <c:v>Day 2</c:v>
                  </c:pt>
                  <c:pt idx="2">
                    <c:v>Day 3</c:v>
                  </c:pt>
                  <c:pt idx="3">
                    <c:v>Day 4</c:v>
                  </c:pt>
                  <c:pt idx="4">
                    <c:v>Day 5</c:v>
                  </c:pt>
                  <c:pt idx="5">
                    <c:v>Day 6</c:v>
                  </c:pt>
                  <c:pt idx="6">
                    <c:v>Day 7</c:v>
                  </c:pt>
                </c:lvl>
              </c:multiLvlStrCache>
            </c:multiLvlStrRef>
          </c:cat>
          <c:val>
            <c:numRef>
              <c:f>Sheet1!$E$2:$E$8</c:f>
              <c:numCache>
                <c:formatCode>General</c:formatCode>
                <c:ptCount val="7"/>
                <c:pt idx="0">
                  <c:v>100</c:v>
                </c:pt>
                <c:pt idx="1">
                  <c:v>100</c:v>
                </c:pt>
                <c:pt idx="2">
                  <c:v>100</c:v>
                </c:pt>
                <c:pt idx="3">
                  <c:v>100</c:v>
                </c:pt>
                <c:pt idx="4">
                  <c:v>85</c:v>
                </c:pt>
                <c:pt idx="5">
                  <c:v>70</c:v>
                </c:pt>
                <c:pt idx="6">
                  <c:v>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2292B"/>
                </a:solidFill>
                <a:latin typeface="+mn-lt"/>
              </a:defRPr>
            </a:pPr>
            <a:endParaRPr lang="en-US"/>
          </a:p>
        </c:txPr>
        <c:crossAx val="2094734552"/>
        <c:crosses val="autoZero"/>
        <c:auto val="1"/>
        <c:lblAlgn val="ctr"/>
        <c:noMultiLvlLbl val="1"/>
      </c:catAx>
      <c:valAx>
        <c:axId val="2094734552"/>
        <c:scaling>
          <c:orientation val="minMax"/>
          <c:max val="130"/>
          <c:min val="40"/>
        </c:scaling>
        <c:delete val="0"/>
        <c:axPos val="l"/>
        <c:majorGridlines>
          <c:spPr>
            <a:ln w="9525" cap="flat">
              <a:solidFill>
                <a:srgbClr val="D5E3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2292B"/>
                </a:solidFill>
                <a:latin typeface="+mn-lt"/>
              </a:defRPr>
            </a:pPr>
            <a:endParaRPr lang="en-US"/>
          </a:p>
        </c:txPr>
        <c:crossAx val="2094734554"/>
        <c:crosses val="autoZero"/>
        <c:crossBetween val="between"/>
        <c:majorUnit val="30"/>
      </c:valAx>
      <c:spPr>
        <a:noFill/>
        <a:ln>
          <a:noFill/>
        </a:ln>
        <a:effectLst/>
      </c:spPr>
    </c:plotArea>
    <c:legend>
      <c:legendPos val="b"/>
      <c:overlay val="0"/>
      <c:txPr>
        <a:bodyPr/>
        <a:lstStyle/>
        <a:p>
          <a:pPr>
            <a:defRPr sz="1200">
              <a:solidFill>
                <a:srgbClr val="1229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StrokeTwin is a research prototype: one screen where a clinician sees a virtual patient's history, wearable trend and an ECG sample, with every limit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the context a clinician needs is scattered. The prototype demonstrates how a combined workflow could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inputs, two separate engines, one workspace. A separate WHO South Asia chart lookup gives a 10-year combined CVD estimate on the profile page; it is not stroke-only.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 all four thresholds are crossed: steps down 36%, sleep down 24%, resting HR up 16%, HRV down 30%. Thresholds are illustrative demo values, not medical cutoffs.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on NeuroKit2 heart-rate-variability features. No patient identifiers exist in the public files, so no patient-level split or external validation is possible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queue stores a snapshot of the crossed changes and profile context, so the explanation stays visible even if later readings change. Open suggestions are one per patient. No push or emergency notifications are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order: load_synthea, generate_wearable_stream, extract_ecg_features, train_afib_classifier, fuse_patients. Then uvicorn serves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honesty: this is a transparent demonstration, and the path to a real forecast requires paired longitudinal data and external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754880" cy="9144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286000"/>
            <a:ext cx="4572000" cy="45720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
        <p:nvSpPr>
          <p:cNvPr id="4" name="Text 0"/>
          <p:cNvSpPr/>
          <p:nvPr/>
        </p:nvSpPr>
        <p:spPr>
          <a:xfrm>
            <a:off x="548640" y="4754880"/>
            <a:ext cx="6400800" cy="228600"/>
          </a:xfrm>
          <a:prstGeom prst="rect">
            <a:avLst/>
          </a:prstGeom>
          <a:noFill/>
          <a:ln/>
        </p:spPr>
        <p:txBody>
          <a:bodyPr wrap="square" lIns="0" tIns="0" rIns="0" bIns="0" rtlCol="0" anchor="ctr"/>
          <a:lstStyle/>
          <a:p>
            <a:pPr indent="0" marL="0">
              <a:buNone/>
            </a:pPr>
            <a:r>
              <a:rPr lang="en-US" sz="1000" dirty="0">
                <a:solidFill>
                  <a:schemeClr val="accent6"/>
                </a:solidFill>
              </a:rPr>
              <a:t>StrokeTwin  |  research prototype  |  synthetic and public data only</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457200" y="4800600"/>
            <a:ext cx="6400800" cy="228600"/>
          </a:xfrm>
          <a:prstGeom prst="rect">
            <a:avLst/>
          </a:prstGeom>
          <a:noFill/>
          <a:ln/>
        </p:spPr>
        <p:txBody>
          <a:bodyPr wrap="square" lIns="0" tIns="0" rIns="0" bIns="0" rtlCol="0" anchor="ctr"/>
          <a:lstStyle/>
          <a:p>
            <a:pPr indent="0" marL="0">
              <a:buNone/>
            </a:pPr>
            <a:r>
              <a:rPr lang="en-US" sz="1000" dirty="0">
                <a:solidFill>
                  <a:schemeClr val="accent5"/>
                </a:solidFill>
              </a:rPr>
              <a:t>StrokeTwin  |  research prototype  |  synthetic and public data only</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457200" y="4800600"/>
            <a:ext cx="6400800" cy="228600"/>
          </a:xfrm>
          <a:prstGeom prst="rect">
            <a:avLst/>
          </a:prstGeom>
          <a:noFill/>
          <a:ln/>
        </p:spPr>
        <p:txBody>
          <a:bodyPr wrap="square" lIns="0" tIns="0" rIns="0" bIns="0" rtlCol="0" anchor="ctr"/>
          <a:lstStyle/>
          <a:p>
            <a:pPr indent="0" marL="0">
              <a:buNone/>
            </a:pPr>
            <a:r>
              <a:rPr lang="en-US" sz="1000" dirty="0">
                <a:solidFill>
                  <a:schemeClr val="accent6"/>
                </a:solidFill>
              </a:rPr>
              <a:t>StrokeTwin  |  research prototype  |  synthetic and public data only</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754880" cy="914400"/>
          </a:xfrm>
          <a:prstGeom prst="rect">
            <a:avLst/>
          </a:prstGeom>
          <a:noFill/>
          <a:ln/>
        </p:spPr>
        <p:txBody>
          <a:bodyPr wrap="square" lIns="0" tIns="0" rIns="0" bIns="0" rtlCol="0" anchor="ctr"/>
          <a:lstStyle/>
          <a:p>
            <a:pPr algn="l" indent="0" marL="0">
              <a:buNone/>
            </a:pPr>
            <a:r>
              <a:rPr lang="en-US" sz="5400" b="1" dirty="0">
                <a:solidFill>
                  <a:schemeClr val="bg1"/>
                </a:solidFill>
              </a:rPr>
              <a:t>StrokeTwin</a:t>
            </a:r>
            <a:endParaRPr lang="en-US" sz="5400" dirty="0"/>
          </a:p>
        </p:txBody>
      </p:sp>
      <p:sp>
        <p:nvSpPr>
          <p:cNvPr id="3" name="Text 0"/>
          <p:cNvSpPr/>
          <p:nvPr>
            <p:ph idx="101" type="body" hasCustomPrompt="1"/>
          </p:nvPr>
        </p:nvSpPr>
        <p:spPr>
          <a:xfrm>
            <a:off x="548640" y="2286000"/>
            <a:ext cx="4572000" cy="457200"/>
          </a:xfrm>
          <a:prstGeom prst="rect">
            <a:avLst/>
          </a:prstGeom>
          <a:noFill/>
          <a:ln/>
        </p:spPr>
        <p:txBody>
          <a:bodyPr wrap="square" lIns="0" tIns="0" rIns="0" bIns="0" rtlCol="0" anchor="t"/>
          <a:lstStyle/>
          <a:p>
            <a:pPr algn="l" indent="0" marL="0">
              <a:buNone/>
            </a:pPr>
            <a:r>
              <a:rPr lang="en-US" sz="2200" dirty="0">
                <a:solidFill>
                  <a:schemeClr val="accent6"/>
                </a:solidFill>
              </a:rPr>
              <a:t>See the signals. Understand the story.</a:t>
            </a:r>
            <a:endParaRPr lang="en-US" sz="2200" dirty="0"/>
          </a:p>
        </p:txBody>
      </p:sp>
      <p:sp>
        <p:nvSpPr>
          <p:cNvPr id="4" name="Intro text"/>
          <p:cNvSpPr txBox="1"/>
          <p:nvPr/>
        </p:nvSpPr>
        <p:spPr>
          <a:xfrm>
            <a:off x="548640" y="2880360"/>
            <a:ext cx="4480560" cy="914400"/>
          </a:xfrm>
          <a:prstGeom prst="rect">
            <a:avLst/>
          </a:prstGeom>
          <a:noFill/>
          <a:ln/>
        </p:spPr>
        <p:txBody>
          <a:bodyPr wrap="square" lIns="0" tIns="0" rIns="0" bIns="0" rtlCol="0" anchor="t"/>
          <a:lstStyle/>
          <a:p>
            <a:pPr indent="0" marL="0">
              <a:buNone/>
            </a:pPr>
            <a:r>
              <a:rPr lang="en-US" sz="1400" dirty="0">
                <a:solidFill>
                  <a:schemeClr val="bg1"/>
                </a:solidFill>
              </a:rPr>
              <a:t>A clinician-facing digital-twin workflow that brings a virtual patient's health history, simulated wearable trends and a public ECG sample into one review screen.</a:t>
            </a:r>
            <a:endParaRPr lang="en-US" sz="1400" dirty="0"/>
          </a:p>
        </p:txBody>
      </p:sp>
      <p:sp>
        <p:nvSpPr>
          <p:cNvPr id="5" name="Pill 1"/>
          <p:cNvSpPr/>
          <p:nvPr/>
        </p:nvSpPr>
        <p:spPr>
          <a:xfrm>
            <a:off x="548640" y="3977640"/>
            <a:ext cx="1234440" cy="329184"/>
          </a:xfrm>
          <a:prstGeom prst="roundRect">
            <a:avLst>
              <a:gd name="adj" fmla="val 50000"/>
            </a:avLst>
          </a:prstGeom>
          <a:solidFill>
            <a:schemeClr val="accent1"/>
          </a:solidFill>
          <a:ln w="12700">
            <a:solidFill>
              <a:schemeClr val="accent1"/>
            </a:solidFill>
            <a:prstDash val="solid"/>
          </a:ln>
        </p:spPr>
      </p:sp>
      <p:sp>
        <p:nvSpPr>
          <p:cNvPr id="6" name="Pill text 1"/>
          <p:cNvSpPr txBox="1"/>
          <p:nvPr/>
        </p:nvSpPr>
        <p:spPr>
          <a:xfrm>
            <a:off x="548640" y="3977640"/>
            <a:ext cx="1234440" cy="329184"/>
          </a:xfrm>
          <a:prstGeom prst="rect">
            <a:avLst/>
          </a:prstGeom>
          <a:noFill/>
          <a:ln/>
        </p:spPr>
        <p:txBody>
          <a:bodyPr wrap="square" lIns="0" tIns="0" rIns="0" bIns="0" rtlCol="0" anchor="ctr"/>
          <a:lstStyle/>
          <a:p>
            <a:pPr algn="ctr" indent="0" marL="0">
              <a:buNone/>
            </a:pPr>
            <a:r>
              <a:rPr lang="en-US" sz="1200" b="1" dirty="0">
                <a:solidFill>
                  <a:schemeClr val="bg1"/>
                </a:solidFill>
              </a:rPr>
              <a:t>Synthetic EHR</a:t>
            </a:r>
            <a:endParaRPr lang="en-US" sz="1200" dirty="0"/>
          </a:p>
        </p:txBody>
      </p:sp>
      <p:sp>
        <p:nvSpPr>
          <p:cNvPr id="7" name="Pill 2"/>
          <p:cNvSpPr/>
          <p:nvPr/>
        </p:nvSpPr>
        <p:spPr>
          <a:xfrm>
            <a:off x="1892808" y="3977640"/>
            <a:ext cx="1554480" cy="329184"/>
          </a:xfrm>
          <a:prstGeom prst="roundRect">
            <a:avLst>
              <a:gd name="adj" fmla="val 50000"/>
            </a:avLst>
          </a:prstGeom>
          <a:solidFill>
            <a:schemeClr val="accent1"/>
          </a:solidFill>
          <a:ln w="12700">
            <a:solidFill>
              <a:schemeClr val="accent1"/>
            </a:solidFill>
            <a:prstDash val="solid"/>
          </a:ln>
        </p:spPr>
      </p:sp>
      <p:sp>
        <p:nvSpPr>
          <p:cNvPr id="8" name="Pill text 2"/>
          <p:cNvSpPr txBox="1"/>
          <p:nvPr/>
        </p:nvSpPr>
        <p:spPr>
          <a:xfrm>
            <a:off x="1892808" y="3977640"/>
            <a:ext cx="1554480" cy="329184"/>
          </a:xfrm>
          <a:prstGeom prst="rect">
            <a:avLst/>
          </a:prstGeom>
          <a:noFill/>
          <a:ln/>
        </p:spPr>
        <p:txBody>
          <a:bodyPr wrap="square" lIns="0" tIns="0" rIns="0" bIns="0" rtlCol="0" anchor="ctr"/>
          <a:lstStyle/>
          <a:p>
            <a:pPr algn="ctr" indent="0" marL="0">
              <a:buNone/>
            </a:pPr>
            <a:r>
              <a:rPr lang="en-US" sz="1200" b="1" dirty="0">
                <a:solidFill>
                  <a:schemeClr val="bg1"/>
                </a:solidFill>
              </a:rPr>
              <a:t>Simulated wearables</a:t>
            </a:r>
            <a:endParaRPr lang="en-US" sz="1200" dirty="0"/>
          </a:p>
        </p:txBody>
      </p:sp>
      <p:sp>
        <p:nvSpPr>
          <p:cNvPr id="9" name="Pill 3"/>
          <p:cNvSpPr/>
          <p:nvPr/>
        </p:nvSpPr>
        <p:spPr>
          <a:xfrm>
            <a:off x="3557016" y="3977640"/>
            <a:ext cx="960120" cy="329184"/>
          </a:xfrm>
          <a:prstGeom prst="roundRect">
            <a:avLst>
              <a:gd name="adj" fmla="val 50000"/>
            </a:avLst>
          </a:prstGeom>
          <a:solidFill>
            <a:schemeClr val="accent1"/>
          </a:solidFill>
          <a:ln w="12700">
            <a:solidFill>
              <a:schemeClr val="accent1"/>
            </a:solidFill>
            <a:prstDash val="solid"/>
          </a:ln>
        </p:spPr>
      </p:sp>
      <p:sp>
        <p:nvSpPr>
          <p:cNvPr id="10" name="Pill text 3"/>
          <p:cNvSpPr txBox="1"/>
          <p:nvPr/>
        </p:nvSpPr>
        <p:spPr>
          <a:xfrm>
            <a:off x="3557016" y="3977640"/>
            <a:ext cx="960120" cy="329184"/>
          </a:xfrm>
          <a:prstGeom prst="rect">
            <a:avLst/>
          </a:prstGeom>
          <a:noFill/>
          <a:ln/>
        </p:spPr>
        <p:txBody>
          <a:bodyPr wrap="square" lIns="0" tIns="0" rIns="0" bIns="0" rtlCol="0" anchor="ctr"/>
          <a:lstStyle/>
          <a:p>
            <a:pPr algn="ctr" indent="0" marL="0">
              <a:buNone/>
            </a:pPr>
            <a:r>
              <a:rPr lang="en-US" sz="1200" b="1" dirty="0">
                <a:solidFill>
                  <a:schemeClr val="bg1"/>
                </a:solidFill>
              </a:rPr>
              <a:t>Public ECG</a:t>
            </a:r>
            <a:endParaRPr lang="en-US" sz="1200" dirty="0"/>
          </a:p>
        </p:txBody>
      </p:sp>
      <p:pic>
        <p:nvPicPr>
          <p:cNvPr id="11" name="Heart illustration" descr="Illustration of a glowing heart with an ECG pulse line">    </p:cNvPr>
          <p:cNvPicPr>
            <a:picLocks noChangeAspect="1"/>
          </p:cNvPicPr>
          <p:nvPr/>
        </p:nvPicPr>
        <p:blipFill>
          <a:blip r:embed="rId1"/>
          <a:stretch>
            <a:fillRect/>
          </a:stretch>
        </p:blipFill>
        <p:spPr>
          <a:xfrm>
            <a:off x="5349240" y="685800"/>
            <a:ext cx="3474720" cy="3474720"/>
          </a:xfrm>
          <a:prstGeom prst="rect">
            <a:avLst/>
          </a:prstGeom>
        </p:spPr>
      </p:pic>
      <p:sp>
        <p:nvSpPr>
          <p:cNvPr id="12" name="Demo note"/>
          <p:cNvSpPr txBox="1"/>
          <p:nvPr/>
        </p:nvSpPr>
        <p:spPr>
          <a:xfrm>
            <a:off x="5349240" y="4206240"/>
            <a:ext cx="3474720" cy="274320"/>
          </a:xfrm>
          <a:prstGeom prst="rect">
            <a:avLst/>
          </a:prstGeom>
          <a:noFill/>
          <a:ln/>
        </p:spPr>
        <p:txBody>
          <a:bodyPr wrap="square" lIns="0" tIns="0" rIns="0" bIns="0" rtlCol="0" anchor="ctr"/>
          <a:lstStyle/>
          <a:p>
            <a:pPr algn="ctr" indent="0" marL="0">
              <a:buNone/>
            </a:pPr>
            <a:r>
              <a:rPr lang="en-US" sz="1200" i="1" dirty="0">
                <a:solidFill>
                  <a:schemeClr val="accent6"/>
                </a:solidFill>
              </a:rPr>
              <a:t>Demo data only. Not a medical tool.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Heart signals live in silos</a:t>
            </a:r>
            <a:endParaRPr lang="en-US" sz="3400" dirty="0"/>
          </a:p>
        </p:txBody>
      </p:sp>
      <p:sp>
        <p:nvSpPr>
          <p:cNvPr id="3" name="Silo card 1"/>
          <p:cNvSpPr/>
          <p:nvPr/>
        </p:nvSpPr>
        <p:spPr>
          <a:xfrm>
            <a:off x="457200" y="1325880"/>
            <a:ext cx="256032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4" name="Silo badge 1 circle"/>
          <p:cNvSpPr/>
          <p:nvPr/>
        </p:nvSpPr>
        <p:spPr>
          <a:xfrm>
            <a:off x="685800" y="1554480"/>
            <a:ext cx="640080" cy="640080"/>
          </a:xfrm>
          <a:prstGeom prst="ellipse">
            <a:avLst/>
          </a:prstGeom>
          <a:solidFill>
            <a:schemeClr val="accent1"/>
          </a:solidFill>
          <a:ln w="12700">
            <a:solidFill>
              <a:schemeClr val="accent1"/>
            </a:solidFill>
            <a:prstDash val="solid"/>
          </a:ln>
        </p:spPr>
      </p:sp>
      <p:pic>
        <p:nvPicPr>
          <p:cNvPr id="5" name="Silo badge 1 icon" descr="preencoded.png">    </p:cNvPr>
          <p:cNvPicPr>
            <a:picLocks noChangeAspect="1"/>
          </p:cNvPicPr>
          <p:nvPr/>
        </p:nvPicPr>
        <p:blipFill>
          <a:blip r:embed="rId1"/>
          <a:stretch>
            <a:fillRect/>
          </a:stretch>
        </p:blipFill>
        <p:spPr>
          <a:xfrm>
            <a:off x="852221" y="1720901"/>
            <a:ext cx="307238" cy="307238"/>
          </a:xfrm>
          <a:prstGeom prst="rect">
            <a:avLst/>
          </a:prstGeom>
        </p:spPr>
      </p:pic>
      <p:sp>
        <p:nvSpPr>
          <p:cNvPr id="6" name="Silo head 1"/>
          <p:cNvSpPr txBox="1"/>
          <p:nvPr/>
        </p:nvSpPr>
        <p:spPr>
          <a:xfrm>
            <a:off x="685800" y="2331720"/>
            <a:ext cx="2103120" cy="320040"/>
          </a:xfrm>
          <a:prstGeom prst="rect">
            <a:avLst/>
          </a:prstGeom>
          <a:noFill/>
          <a:ln/>
        </p:spPr>
        <p:txBody>
          <a:bodyPr wrap="square" lIns="0" tIns="0" rIns="0" bIns="0" rtlCol="0" anchor="ctr"/>
          <a:lstStyle/>
          <a:p>
            <a:pPr indent="0" marL="0">
              <a:buNone/>
            </a:pPr>
            <a:r>
              <a:rPr lang="en-US" sz="1800" b="1" dirty="0">
                <a:solidFill>
                  <a:schemeClr val="tx2"/>
                </a:solidFill>
              </a:rPr>
              <a:t>Health history</a:t>
            </a:r>
            <a:endParaRPr lang="en-US" sz="1800" dirty="0"/>
          </a:p>
        </p:txBody>
      </p:sp>
      <p:sp>
        <p:nvSpPr>
          <p:cNvPr id="7" name="Silo text 1"/>
          <p:cNvSpPr txBox="1"/>
          <p:nvPr/>
        </p:nvSpPr>
        <p:spPr>
          <a:xfrm>
            <a:off x="685800" y="2697480"/>
            <a:ext cx="2148840" cy="548640"/>
          </a:xfrm>
          <a:prstGeom prst="rect">
            <a:avLst/>
          </a:prstGeom>
          <a:noFill/>
          <a:ln/>
        </p:spPr>
        <p:txBody>
          <a:bodyPr wrap="square" lIns="0" tIns="0" rIns="0" bIns="0" rtlCol="0" anchor="t"/>
          <a:lstStyle/>
          <a:p>
            <a:pPr indent="0" marL="0">
              <a:buNone/>
            </a:pPr>
            <a:r>
              <a:rPr lang="en-US" sz="1400" dirty="0">
                <a:solidFill>
                  <a:schemeClr val="tx1"/>
                </a:solidFill>
              </a:rPr>
              <a:t>Diagnoses and risk factors sit in the EHR.</a:t>
            </a:r>
            <a:endParaRPr lang="en-US" sz="1400" dirty="0"/>
          </a:p>
        </p:txBody>
      </p:sp>
      <p:sp>
        <p:nvSpPr>
          <p:cNvPr id="8" name="Silo card 2"/>
          <p:cNvSpPr/>
          <p:nvPr/>
        </p:nvSpPr>
        <p:spPr>
          <a:xfrm>
            <a:off x="3291840" y="1325880"/>
            <a:ext cx="256032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9" name="Silo badge 2 circle"/>
          <p:cNvSpPr/>
          <p:nvPr/>
        </p:nvSpPr>
        <p:spPr>
          <a:xfrm>
            <a:off x="3520440" y="1554480"/>
            <a:ext cx="640080" cy="640080"/>
          </a:xfrm>
          <a:prstGeom prst="ellipse">
            <a:avLst/>
          </a:prstGeom>
          <a:solidFill>
            <a:schemeClr val="accent1"/>
          </a:solidFill>
          <a:ln w="12700">
            <a:solidFill>
              <a:schemeClr val="accent1"/>
            </a:solidFill>
            <a:prstDash val="solid"/>
          </a:ln>
        </p:spPr>
      </p:sp>
      <p:pic>
        <p:nvPicPr>
          <p:cNvPr id="10" name="Silo badge 2 icon" descr="preencoded.png">    </p:cNvPr>
          <p:cNvPicPr>
            <a:picLocks noChangeAspect="1"/>
          </p:cNvPicPr>
          <p:nvPr/>
        </p:nvPicPr>
        <p:blipFill>
          <a:blip r:embed="rId2"/>
          <a:stretch>
            <a:fillRect/>
          </a:stretch>
        </p:blipFill>
        <p:spPr>
          <a:xfrm>
            <a:off x="3686861" y="1720901"/>
            <a:ext cx="307238" cy="307238"/>
          </a:xfrm>
          <a:prstGeom prst="rect">
            <a:avLst/>
          </a:prstGeom>
        </p:spPr>
      </p:pic>
      <p:sp>
        <p:nvSpPr>
          <p:cNvPr id="11" name="Silo head 2"/>
          <p:cNvSpPr txBox="1"/>
          <p:nvPr/>
        </p:nvSpPr>
        <p:spPr>
          <a:xfrm>
            <a:off x="3520440" y="2331720"/>
            <a:ext cx="2103120" cy="320040"/>
          </a:xfrm>
          <a:prstGeom prst="rect">
            <a:avLst/>
          </a:prstGeom>
          <a:noFill/>
          <a:ln/>
        </p:spPr>
        <p:txBody>
          <a:bodyPr wrap="square" lIns="0" tIns="0" rIns="0" bIns="0" rtlCol="0" anchor="ctr"/>
          <a:lstStyle/>
          <a:p>
            <a:pPr indent="0" marL="0">
              <a:buNone/>
            </a:pPr>
            <a:r>
              <a:rPr lang="en-US" sz="1800" b="1" dirty="0">
                <a:solidFill>
                  <a:schemeClr val="tx2"/>
                </a:solidFill>
              </a:rPr>
              <a:t>Wearable trends</a:t>
            </a:r>
            <a:endParaRPr lang="en-US" sz="1800" dirty="0"/>
          </a:p>
        </p:txBody>
      </p:sp>
      <p:sp>
        <p:nvSpPr>
          <p:cNvPr id="12" name="Silo text 2"/>
          <p:cNvSpPr txBox="1"/>
          <p:nvPr/>
        </p:nvSpPr>
        <p:spPr>
          <a:xfrm>
            <a:off x="3520440" y="2697480"/>
            <a:ext cx="2148840" cy="548640"/>
          </a:xfrm>
          <a:prstGeom prst="rect">
            <a:avLst/>
          </a:prstGeom>
          <a:noFill/>
          <a:ln/>
        </p:spPr>
        <p:txBody>
          <a:bodyPr wrap="square" lIns="0" tIns="0" rIns="0" bIns="0" rtlCol="0" anchor="t"/>
          <a:lstStyle/>
          <a:p>
            <a:pPr indent="0" marL="0">
              <a:buNone/>
            </a:pPr>
            <a:r>
              <a:rPr lang="en-US" sz="1400" dirty="0">
                <a:solidFill>
                  <a:schemeClr val="tx1"/>
                </a:solidFill>
              </a:rPr>
              <a:t>Steps, sleep, heart rate and HRV drift day by day.</a:t>
            </a:r>
            <a:endParaRPr lang="en-US" sz="1400" dirty="0"/>
          </a:p>
        </p:txBody>
      </p:sp>
      <p:sp>
        <p:nvSpPr>
          <p:cNvPr id="13" name="Silo card 3"/>
          <p:cNvSpPr/>
          <p:nvPr/>
        </p:nvSpPr>
        <p:spPr>
          <a:xfrm>
            <a:off x="6126480" y="1325880"/>
            <a:ext cx="256032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4" name="Silo badge 3 circle"/>
          <p:cNvSpPr/>
          <p:nvPr/>
        </p:nvSpPr>
        <p:spPr>
          <a:xfrm>
            <a:off x="6355080" y="1554480"/>
            <a:ext cx="640080" cy="640080"/>
          </a:xfrm>
          <a:prstGeom prst="ellipse">
            <a:avLst/>
          </a:prstGeom>
          <a:solidFill>
            <a:schemeClr val="accent1"/>
          </a:solidFill>
          <a:ln w="12700">
            <a:solidFill>
              <a:schemeClr val="accent1"/>
            </a:solidFill>
            <a:prstDash val="solid"/>
          </a:ln>
        </p:spPr>
      </p:sp>
      <p:pic>
        <p:nvPicPr>
          <p:cNvPr id="15" name="Silo badge 3 icon" descr="preencoded.png">    </p:cNvPr>
          <p:cNvPicPr>
            <a:picLocks noChangeAspect="1"/>
          </p:cNvPicPr>
          <p:nvPr/>
        </p:nvPicPr>
        <p:blipFill>
          <a:blip r:embed="rId3"/>
          <a:stretch>
            <a:fillRect/>
          </a:stretch>
        </p:blipFill>
        <p:spPr>
          <a:xfrm>
            <a:off x="6521501" y="1720901"/>
            <a:ext cx="307238" cy="307238"/>
          </a:xfrm>
          <a:prstGeom prst="rect">
            <a:avLst/>
          </a:prstGeom>
        </p:spPr>
      </p:pic>
      <p:sp>
        <p:nvSpPr>
          <p:cNvPr id="16" name="Silo head 3"/>
          <p:cNvSpPr txBox="1"/>
          <p:nvPr/>
        </p:nvSpPr>
        <p:spPr>
          <a:xfrm>
            <a:off x="6355080" y="2331720"/>
            <a:ext cx="2103120" cy="320040"/>
          </a:xfrm>
          <a:prstGeom prst="rect">
            <a:avLst/>
          </a:prstGeom>
          <a:noFill/>
          <a:ln/>
        </p:spPr>
        <p:txBody>
          <a:bodyPr wrap="square" lIns="0" tIns="0" rIns="0" bIns="0" rtlCol="0" anchor="ctr"/>
          <a:lstStyle/>
          <a:p>
            <a:pPr indent="0" marL="0">
              <a:buNone/>
            </a:pPr>
            <a:r>
              <a:rPr lang="en-US" sz="1800" b="1" dirty="0">
                <a:solidFill>
                  <a:schemeClr val="tx2"/>
                </a:solidFill>
              </a:rPr>
              <a:t>ECG snapshots</a:t>
            </a:r>
            <a:endParaRPr lang="en-US" sz="1800" dirty="0"/>
          </a:p>
        </p:txBody>
      </p:sp>
      <p:sp>
        <p:nvSpPr>
          <p:cNvPr id="17" name="Silo text 3"/>
          <p:cNvSpPr txBox="1"/>
          <p:nvPr/>
        </p:nvSpPr>
        <p:spPr>
          <a:xfrm>
            <a:off x="6355080" y="2697480"/>
            <a:ext cx="2148840" cy="548640"/>
          </a:xfrm>
          <a:prstGeom prst="rect">
            <a:avLst/>
          </a:prstGeom>
          <a:noFill/>
          <a:ln/>
        </p:spPr>
        <p:txBody>
          <a:bodyPr wrap="square" lIns="0" tIns="0" rIns="0" bIns="0" rtlCol="0" anchor="t"/>
          <a:lstStyle/>
          <a:p>
            <a:pPr indent="0" marL="0">
              <a:buNone/>
            </a:pPr>
            <a:r>
              <a:rPr lang="en-US" sz="1400" dirty="0">
                <a:solidFill>
                  <a:schemeClr val="tx1"/>
                </a:solidFill>
              </a:rPr>
              <a:t>Short rhythm recordings are read one at a time.</a:t>
            </a:r>
            <a:endParaRPr lang="en-US" sz="1400" dirty="0"/>
          </a:p>
        </p:txBody>
      </p:sp>
      <p:sp>
        <p:nvSpPr>
          <p:cNvPr id="18" name="Bridge banner"/>
          <p:cNvSpPr/>
          <p:nvPr/>
        </p:nvSpPr>
        <p:spPr>
          <a:xfrm>
            <a:off x="457200" y="3611880"/>
            <a:ext cx="8229600" cy="914400"/>
          </a:xfrm>
          <a:prstGeom prst="roundRect">
            <a:avLst>
              <a:gd name="adj" fmla="val 12000"/>
            </a:avLst>
          </a:prstGeom>
          <a:solidFill>
            <a:schemeClr val="accent1"/>
          </a:solidFill>
          <a:ln w="12700">
            <a:solidFill>
              <a:schemeClr val="accent1"/>
            </a:solidFill>
            <a:prstDash val="solid"/>
          </a:ln>
        </p:spPr>
      </p:sp>
      <p:sp>
        <p:nvSpPr>
          <p:cNvPr id="19" name="Bridge text"/>
          <p:cNvSpPr txBox="1"/>
          <p:nvPr/>
        </p:nvSpPr>
        <p:spPr>
          <a:xfrm>
            <a:off x="731520" y="3611880"/>
            <a:ext cx="7680960" cy="914400"/>
          </a:xfrm>
          <a:prstGeom prst="rect">
            <a:avLst/>
          </a:prstGeom>
          <a:noFill/>
          <a:ln/>
        </p:spPr>
        <p:txBody>
          <a:bodyPr wrap="square" lIns="0" tIns="0" rIns="0" bIns="0" rtlCol="0" anchor="ctr"/>
          <a:lstStyle/>
          <a:p>
            <a:pPr indent="0" marL="0">
              <a:buNone/>
            </a:pPr>
            <a:r>
              <a:rPr lang="en-US" sz="1600" b="1" dirty="0">
                <a:solidFill>
                  <a:schemeClr val="bg1"/>
                </a:solidFill>
              </a:rPr>
              <a:t>A trend only means something next to the patient's history. </a:t>
            </a:r>
            <a:pPr indent="0" marL="0">
              <a:buNone/>
            </a:pPr>
            <a:r>
              <a:rPr lang="en-US" sz="1600" dirty="0">
                <a:solidFill>
                  <a:schemeClr val="bg1"/>
                </a:solidFill>
              </a:rPr>
              <a:t>StrokeTwin is a prototype that puts all three on one review screen, with each stream's limits stated.</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StrokeTwin in one view</a:t>
            </a:r>
            <a:endParaRPr lang="en-US" sz="3400" dirty="0"/>
          </a:p>
        </p:txBody>
      </p:sp>
      <p:sp>
        <p:nvSpPr>
          <p:cNvPr id="3" name="Inputs label"/>
          <p:cNvSpPr txBox="1"/>
          <p:nvPr/>
        </p:nvSpPr>
        <p:spPr>
          <a:xfrm>
            <a:off x="457200" y="1143000"/>
            <a:ext cx="2468880" cy="228600"/>
          </a:xfrm>
          <a:prstGeom prst="rect">
            <a:avLst/>
          </a:prstGeom>
          <a:noFill/>
          <a:ln/>
        </p:spPr>
        <p:txBody>
          <a:bodyPr wrap="square" lIns="0" tIns="0" rIns="0" bIns="0" rtlCol="0" anchor="ctr"/>
          <a:lstStyle/>
          <a:p>
            <a:pPr indent="0" marL="0">
              <a:buNone/>
            </a:pPr>
            <a:r>
              <a:rPr lang="en-US" sz="1100" b="1" dirty="0">
                <a:solidFill>
                  <a:schemeClr val="accent5"/>
                </a:solidFill>
              </a:rPr>
              <a:t>INPUTS</a:t>
            </a:r>
            <a:endParaRPr lang="en-US" sz="1100" dirty="0"/>
          </a:p>
        </p:txBody>
      </p:sp>
      <p:sp>
        <p:nvSpPr>
          <p:cNvPr id="4" name="Processing label"/>
          <p:cNvSpPr txBox="1"/>
          <p:nvPr/>
        </p:nvSpPr>
        <p:spPr>
          <a:xfrm>
            <a:off x="3474720" y="1143000"/>
            <a:ext cx="2194560" cy="228600"/>
          </a:xfrm>
          <a:prstGeom prst="rect">
            <a:avLst/>
          </a:prstGeom>
          <a:noFill/>
          <a:ln/>
        </p:spPr>
        <p:txBody>
          <a:bodyPr wrap="square" lIns="0" tIns="0" rIns="0" bIns="0" rtlCol="0" anchor="ctr"/>
          <a:lstStyle/>
          <a:p>
            <a:pPr indent="0" marL="0">
              <a:buNone/>
            </a:pPr>
            <a:r>
              <a:rPr lang="en-US" sz="1100" b="1" dirty="0">
                <a:solidFill>
                  <a:schemeClr val="accent5"/>
                </a:solidFill>
              </a:rPr>
              <a:t>PROCESSING</a:t>
            </a:r>
            <a:endParaRPr lang="en-US" sz="1100" dirty="0"/>
          </a:p>
        </p:txBody>
      </p:sp>
      <p:sp>
        <p:nvSpPr>
          <p:cNvPr id="5" name="Workspace label"/>
          <p:cNvSpPr txBox="1"/>
          <p:nvPr/>
        </p:nvSpPr>
        <p:spPr>
          <a:xfrm>
            <a:off x="6217920" y="1143000"/>
            <a:ext cx="2468880" cy="228600"/>
          </a:xfrm>
          <a:prstGeom prst="rect">
            <a:avLst/>
          </a:prstGeom>
          <a:noFill/>
          <a:ln/>
        </p:spPr>
        <p:txBody>
          <a:bodyPr wrap="square" lIns="0" tIns="0" rIns="0" bIns="0" rtlCol="0" anchor="ctr"/>
          <a:lstStyle/>
          <a:p>
            <a:pPr indent="0" marL="0">
              <a:buNone/>
            </a:pPr>
            <a:r>
              <a:rPr lang="en-US" sz="1100" b="1" dirty="0">
                <a:solidFill>
                  <a:schemeClr val="accent5"/>
                </a:solidFill>
              </a:rPr>
              <a:t>CLINICIAN WORKSPACE</a:t>
            </a:r>
            <a:endParaRPr lang="en-US" sz="1100" dirty="0"/>
          </a:p>
        </p:txBody>
      </p:sp>
      <p:sp>
        <p:nvSpPr>
          <p:cNvPr id="6" name="Source card 1"/>
          <p:cNvSpPr/>
          <p:nvPr/>
        </p:nvSpPr>
        <p:spPr>
          <a:xfrm>
            <a:off x="457200" y="1417320"/>
            <a:ext cx="2468880" cy="777240"/>
          </a:xfrm>
          <a:prstGeom prst="roundRect">
            <a:avLst>
              <a:gd name="adj" fmla="val 14118"/>
            </a:avLst>
          </a:prstGeom>
          <a:solidFill>
            <a:schemeClr val="bg2"/>
          </a:solidFill>
          <a:ln w="12700">
            <a:solidFill>
              <a:schemeClr val="bg2"/>
            </a:solidFill>
            <a:prstDash val="solid"/>
          </a:ln>
        </p:spPr>
      </p:sp>
      <p:sp>
        <p:nvSpPr>
          <p:cNvPr id="7" name="Source badge 1 circle"/>
          <p:cNvSpPr/>
          <p:nvPr/>
        </p:nvSpPr>
        <p:spPr>
          <a:xfrm>
            <a:off x="566928" y="1545336"/>
            <a:ext cx="521208" cy="521208"/>
          </a:xfrm>
          <a:prstGeom prst="ellipse">
            <a:avLst/>
          </a:prstGeom>
          <a:solidFill>
            <a:schemeClr val="accent1"/>
          </a:solidFill>
          <a:ln w="12700">
            <a:solidFill>
              <a:schemeClr val="accent1"/>
            </a:solidFill>
            <a:prstDash val="solid"/>
          </a:ln>
        </p:spPr>
      </p:sp>
      <p:pic>
        <p:nvPicPr>
          <p:cNvPr id="8" name="Source badge 1 icon" descr="preencoded.png">    </p:cNvPr>
          <p:cNvPicPr>
            <a:picLocks noChangeAspect="1"/>
          </p:cNvPicPr>
          <p:nvPr/>
        </p:nvPicPr>
        <p:blipFill>
          <a:blip r:embed="rId1"/>
          <a:stretch>
            <a:fillRect/>
          </a:stretch>
        </p:blipFill>
        <p:spPr>
          <a:xfrm>
            <a:off x="702442" y="1680850"/>
            <a:ext cx="250180" cy="250180"/>
          </a:xfrm>
          <a:prstGeom prst="rect">
            <a:avLst/>
          </a:prstGeom>
        </p:spPr>
      </p:pic>
      <p:sp>
        <p:nvSpPr>
          <p:cNvPr id="9" name="Source head 1"/>
          <p:cNvSpPr txBox="1"/>
          <p:nvPr/>
        </p:nvSpPr>
        <p:spPr>
          <a:xfrm>
            <a:off x="1216152" y="1508760"/>
            <a:ext cx="1645920" cy="301752"/>
          </a:xfrm>
          <a:prstGeom prst="rect">
            <a:avLst/>
          </a:prstGeom>
          <a:noFill/>
          <a:ln/>
        </p:spPr>
        <p:txBody>
          <a:bodyPr wrap="square" lIns="0" tIns="0" rIns="0" bIns="0" rtlCol="0" anchor="ctr"/>
          <a:lstStyle/>
          <a:p>
            <a:pPr indent="0" marL="0">
              <a:buNone/>
            </a:pPr>
            <a:r>
              <a:rPr lang="en-US" sz="1400" b="1" dirty="0">
                <a:solidFill>
                  <a:schemeClr val="tx2"/>
                </a:solidFill>
              </a:rPr>
              <a:t>EHR profile</a:t>
            </a:r>
            <a:endParaRPr lang="en-US" sz="1400" dirty="0"/>
          </a:p>
        </p:txBody>
      </p:sp>
      <p:sp>
        <p:nvSpPr>
          <p:cNvPr id="10" name="Source text 1"/>
          <p:cNvSpPr txBox="1"/>
          <p:nvPr/>
        </p:nvSpPr>
        <p:spPr>
          <a:xfrm>
            <a:off x="1216152" y="1810512"/>
            <a:ext cx="1691640" cy="292608"/>
          </a:xfrm>
          <a:prstGeom prst="rect">
            <a:avLst/>
          </a:prstGeom>
          <a:noFill/>
          <a:ln/>
        </p:spPr>
        <p:txBody>
          <a:bodyPr wrap="square" lIns="0" tIns="0" rIns="0" bIns="0" rtlCol="0" anchor="ctr"/>
          <a:lstStyle/>
          <a:p>
            <a:pPr indent="0" marL="0">
              <a:buNone/>
            </a:pPr>
            <a:r>
              <a:rPr lang="en-US" sz="1100" dirty="0">
                <a:solidFill>
                  <a:schemeClr val="accent5"/>
                </a:solidFill>
              </a:rPr>
              <a:t>Synthea synthetic patient</a:t>
            </a:r>
            <a:endParaRPr lang="en-US" sz="1100" dirty="0"/>
          </a:p>
        </p:txBody>
      </p:sp>
      <p:sp>
        <p:nvSpPr>
          <p:cNvPr id="11" name="Source card 2"/>
          <p:cNvSpPr/>
          <p:nvPr/>
        </p:nvSpPr>
        <p:spPr>
          <a:xfrm>
            <a:off x="457200" y="2331720"/>
            <a:ext cx="2468880" cy="777240"/>
          </a:xfrm>
          <a:prstGeom prst="roundRect">
            <a:avLst>
              <a:gd name="adj" fmla="val 14118"/>
            </a:avLst>
          </a:prstGeom>
          <a:solidFill>
            <a:schemeClr val="bg2"/>
          </a:solidFill>
          <a:ln w="12700">
            <a:solidFill>
              <a:schemeClr val="bg2"/>
            </a:solidFill>
            <a:prstDash val="solid"/>
          </a:ln>
        </p:spPr>
      </p:sp>
      <p:sp>
        <p:nvSpPr>
          <p:cNvPr id="12" name="Source badge 2 circle"/>
          <p:cNvSpPr/>
          <p:nvPr/>
        </p:nvSpPr>
        <p:spPr>
          <a:xfrm>
            <a:off x="566928" y="2459736"/>
            <a:ext cx="521208" cy="521208"/>
          </a:xfrm>
          <a:prstGeom prst="ellipse">
            <a:avLst/>
          </a:prstGeom>
          <a:solidFill>
            <a:schemeClr val="accent1"/>
          </a:solidFill>
          <a:ln w="12700">
            <a:solidFill>
              <a:schemeClr val="accent1"/>
            </a:solidFill>
            <a:prstDash val="solid"/>
          </a:ln>
        </p:spPr>
      </p:sp>
      <p:pic>
        <p:nvPicPr>
          <p:cNvPr id="13" name="Source badge 2 icon" descr="preencoded.png">    </p:cNvPr>
          <p:cNvPicPr>
            <a:picLocks noChangeAspect="1"/>
          </p:cNvPicPr>
          <p:nvPr/>
        </p:nvPicPr>
        <p:blipFill>
          <a:blip r:embed="rId2"/>
          <a:stretch>
            <a:fillRect/>
          </a:stretch>
        </p:blipFill>
        <p:spPr>
          <a:xfrm>
            <a:off x="702442" y="2595250"/>
            <a:ext cx="250180" cy="250180"/>
          </a:xfrm>
          <a:prstGeom prst="rect">
            <a:avLst/>
          </a:prstGeom>
        </p:spPr>
      </p:pic>
      <p:sp>
        <p:nvSpPr>
          <p:cNvPr id="14" name="Source head 2"/>
          <p:cNvSpPr txBox="1"/>
          <p:nvPr/>
        </p:nvSpPr>
        <p:spPr>
          <a:xfrm>
            <a:off x="1216152" y="2423160"/>
            <a:ext cx="1645920" cy="301752"/>
          </a:xfrm>
          <a:prstGeom prst="rect">
            <a:avLst/>
          </a:prstGeom>
          <a:noFill/>
          <a:ln/>
        </p:spPr>
        <p:txBody>
          <a:bodyPr wrap="square" lIns="0" tIns="0" rIns="0" bIns="0" rtlCol="0" anchor="ctr"/>
          <a:lstStyle/>
          <a:p>
            <a:pPr indent="0" marL="0">
              <a:buNone/>
            </a:pPr>
            <a:r>
              <a:rPr lang="en-US" sz="1400" b="1" dirty="0">
                <a:solidFill>
                  <a:schemeClr val="tx2"/>
                </a:solidFill>
              </a:rPr>
              <a:t>Wearable stream</a:t>
            </a:r>
            <a:endParaRPr lang="en-US" sz="1400" dirty="0"/>
          </a:p>
        </p:txBody>
      </p:sp>
      <p:sp>
        <p:nvSpPr>
          <p:cNvPr id="15" name="Source text 2"/>
          <p:cNvSpPr txBox="1"/>
          <p:nvPr/>
        </p:nvSpPr>
        <p:spPr>
          <a:xfrm>
            <a:off x="1216152" y="2724912"/>
            <a:ext cx="1691640" cy="292608"/>
          </a:xfrm>
          <a:prstGeom prst="rect">
            <a:avLst/>
          </a:prstGeom>
          <a:noFill/>
          <a:ln/>
        </p:spPr>
        <p:txBody>
          <a:bodyPr wrap="square" lIns="0" tIns="0" rIns="0" bIns="0" rtlCol="0" anchor="ctr"/>
          <a:lstStyle/>
          <a:p>
            <a:pPr indent="0" marL="0">
              <a:buNone/>
            </a:pPr>
            <a:r>
              <a:rPr lang="en-US" sz="1100" dirty="0">
                <a:solidFill>
                  <a:schemeClr val="accent5"/>
                </a:solidFill>
              </a:rPr>
              <a:t>7 days, simulated</a:t>
            </a:r>
            <a:endParaRPr lang="en-US" sz="1100" dirty="0"/>
          </a:p>
        </p:txBody>
      </p:sp>
      <p:sp>
        <p:nvSpPr>
          <p:cNvPr id="16" name="Source card 3"/>
          <p:cNvSpPr/>
          <p:nvPr/>
        </p:nvSpPr>
        <p:spPr>
          <a:xfrm>
            <a:off x="457200" y="3246120"/>
            <a:ext cx="2468880" cy="777240"/>
          </a:xfrm>
          <a:prstGeom prst="roundRect">
            <a:avLst>
              <a:gd name="adj" fmla="val 14118"/>
            </a:avLst>
          </a:prstGeom>
          <a:solidFill>
            <a:schemeClr val="bg2"/>
          </a:solidFill>
          <a:ln w="12700">
            <a:solidFill>
              <a:schemeClr val="bg2"/>
            </a:solidFill>
            <a:prstDash val="solid"/>
          </a:ln>
        </p:spPr>
      </p:sp>
      <p:sp>
        <p:nvSpPr>
          <p:cNvPr id="17" name="Source badge 3 circle"/>
          <p:cNvSpPr/>
          <p:nvPr/>
        </p:nvSpPr>
        <p:spPr>
          <a:xfrm>
            <a:off x="566928" y="3374136"/>
            <a:ext cx="521208" cy="521208"/>
          </a:xfrm>
          <a:prstGeom prst="ellipse">
            <a:avLst/>
          </a:prstGeom>
          <a:solidFill>
            <a:schemeClr val="accent1"/>
          </a:solidFill>
          <a:ln w="12700">
            <a:solidFill>
              <a:schemeClr val="accent1"/>
            </a:solidFill>
            <a:prstDash val="solid"/>
          </a:ln>
        </p:spPr>
      </p:sp>
      <p:pic>
        <p:nvPicPr>
          <p:cNvPr id="18" name="Source badge 3 icon" descr="preencoded.png">    </p:cNvPr>
          <p:cNvPicPr>
            <a:picLocks noChangeAspect="1"/>
          </p:cNvPicPr>
          <p:nvPr/>
        </p:nvPicPr>
        <p:blipFill>
          <a:blip r:embed="rId3"/>
          <a:stretch>
            <a:fillRect/>
          </a:stretch>
        </p:blipFill>
        <p:spPr>
          <a:xfrm>
            <a:off x="702442" y="3509650"/>
            <a:ext cx="250180" cy="250180"/>
          </a:xfrm>
          <a:prstGeom prst="rect">
            <a:avLst/>
          </a:prstGeom>
        </p:spPr>
      </p:pic>
      <p:sp>
        <p:nvSpPr>
          <p:cNvPr id="19" name="Source head 3"/>
          <p:cNvSpPr txBox="1"/>
          <p:nvPr/>
        </p:nvSpPr>
        <p:spPr>
          <a:xfrm>
            <a:off x="1216152" y="3337560"/>
            <a:ext cx="1645920" cy="301752"/>
          </a:xfrm>
          <a:prstGeom prst="rect">
            <a:avLst/>
          </a:prstGeom>
          <a:noFill/>
          <a:ln/>
        </p:spPr>
        <p:txBody>
          <a:bodyPr wrap="square" lIns="0" tIns="0" rIns="0" bIns="0" rtlCol="0" anchor="ctr"/>
          <a:lstStyle/>
          <a:p>
            <a:pPr indent="0" marL="0">
              <a:buNone/>
            </a:pPr>
            <a:r>
              <a:rPr lang="en-US" sz="1400" b="1" dirty="0">
                <a:solidFill>
                  <a:schemeClr val="tx2"/>
                </a:solidFill>
              </a:rPr>
              <a:t>ECG sample</a:t>
            </a:r>
            <a:endParaRPr lang="en-US" sz="1400" dirty="0"/>
          </a:p>
        </p:txBody>
      </p:sp>
      <p:sp>
        <p:nvSpPr>
          <p:cNvPr id="20" name="Source text 3"/>
          <p:cNvSpPr txBox="1"/>
          <p:nvPr/>
        </p:nvSpPr>
        <p:spPr>
          <a:xfrm>
            <a:off x="1216152" y="3639312"/>
            <a:ext cx="1691640" cy="292608"/>
          </a:xfrm>
          <a:prstGeom prst="rect">
            <a:avLst/>
          </a:prstGeom>
          <a:noFill/>
          <a:ln/>
        </p:spPr>
        <p:txBody>
          <a:bodyPr wrap="square" lIns="0" tIns="0" rIns="0" bIns="0" rtlCol="0" anchor="ctr"/>
          <a:lstStyle/>
          <a:p>
            <a:pPr indent="0" marL="0">
              <a:buNone/>
            </a:pPr>
            <a:r>
              <a:rPr lang="en-US" sz="1100" dirty="0">
                <a:solidFill>
                  <a:schemeClr val="accent5"/>
                </a:solidFill>
              </a:rPr>
              <a:t>Public PhysioNet recording</a:t>
            </a:r>
            <a:endParaRPr lang="en-US" sz="1100" dirty="0"/>
          </a:p>
        </p:txBody>
      </p:sp>
      <p:sp>
        <p:nvSpPr>
          <p:cNvPr id="21" name="Watch box"/>
          <p:cNvSpPr/>
          <p:nvPr/>
        </p:nvSpPr>
        <p:spPr>
          <a:xfrm>
            <a:off x="3474720" y="1417320"/>
            <a:ext cx="2194560" cy="1691640"/>
          </a:xfrm>
          <a:prstGeom prst="roundRect">
            <a:avLst>
              <a:gd name="adj" fmla="val 6486"/>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22" name="Watch text"/>
          <p:cNvSpPr txBox="1"/>
          <p:nvPr/>
        </p:nvSpPr>
        <p:spPr>
          <a:xfrm>
            <a:off x="3611880" y="1508760"/>
            <a:ext cx="1920240" cy="1508760"/>
          </a:xfrm>
          <a:prstGeom prst="rect">
            <a:avLst/>
          </a:prstGeom>
          <a:noFill/>
          <a:ln/>
        </p:spPr>
        <p:txBody>
          <a:bodyPr wrap="square" lIns="0" tIns="0" rIns="0" bIns="0" rtlCol="0" anchor="ctr"/>
          <a:lstStyle/>
          <a:p>
            <a:pPr indent="0" marL="0">
              <a:buNone/>
            </a:pPr>
            <a:r>
              <a:rPr lang="en-US" sz="1600" b="1" dirty="0">
                <a:solidFill>
                  <a:schemeClr val="bg1"/>
                </a:solidFill>
              </a:rPr>
              <a:t>Wearable watch</a:t>
            </a:r>
            <a:endParaRPr lang="en-US" sz="1600" dirty="0"/>
          </a:p>
          <a:p>
            <a:pPr indent="0" marL="0">
              <a:buNone/>
            </a:pPr>
            <a:r>
              <a:rPr lang="en-US" sz="1200" dirty="0">
                <a:solidFill>
                  <a:schemeClr val="bg1"/>
                </a:solidFill>
              </a:rPr>
              <a:t>Rule: 2 or more trend thresholds crossed, plus a profile risk factor</a:t>
            </a:r>
            <a:endParaRPr lang="en-US" sz="1600" dirty="0"/>
          </a:p>
        </p:txBody>
      </p:sp>
      <p:sp>
        <p:nvSpPr>
          <p:cNvPr id="23" name="ECG box"/>
          <p:cNvSpPr/>
          <p:nvPr/>
        </p:nvSpPr>
        <p:spPr>
          <a:xfrm>
            <a:off x="3474720" y="3246120"/>
            <a:ext cx="2194560" cy="777240"/>
          </a:xfrm>
          <a:prstGeom prst="roundRect">
            <a:avLst>
              <a:gd name="adj" fmla="val 14118"/>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24" name="ECG text"/>
          <p:cNvSpPr txBox="1"/>
          <p:nvPr/>
        </p:nvSpPr>
        <p:spPr>
          <a:xfrm>
            <a:off x="3611880" y="3246120"/>
            <a:ext cx="1920240" cy="777240"/>
          </a:xfrm>
          <a:prstGeom prst="rect">
            <a:avLst/>
          </a:prstGeom>
          <a:noFill/>
          <a:ln/>
        </p:spPr>
        <p:txBody>
          <a:bodyPr wrap="square" lIns="0" tIns="0" rIns="0" bIns="0" rtlCol="0" anchor="ctr"/>
          <a:lstStyle/>
          <a:p>
            <a:pPr indent="0" marL="0">
              <a:buNone/>
            </a:pPr>
            <a:r>
              <a:rPr lang="en-US" sz="1600" b="1" dirty="0">
                <a:solidFill>
                  <a:schemeClr val="bg1"/>
                </a:solidFill>
              </a:rPr>
              <a:t>ECG classifier</a:t>
            </a:r>
            <a:endParaRPr lang="en-US" sz="1600" dirty="0"/>
          </a:p>
          <a:p>
            <a:pPr indent="0" marL="0">
              <a:buNone/>
            </a:pPr>
            <a:r>
              <a:rPr lang="en-US" sz="1200" dirty="0">
                <a:solidFill>
                  <a:schemeClr val="bg1"/>
                </a:solidFill>
              </a:rPr>
              <a:t>4 rhythm classes</a:t>
            </a:r>
            <a:endParaRPr lang="en-US" sz="1600" dirty="0"/>
          </a:p>
        </p:txBody>
      </p:sp>
      <p:sp>
        <p:nvSpPr>
          <p:cNvPr id="25" name="Workspace box"/>
          <p:cNvSpPr/>
          <p:nvPr/>
        </p:nvSpPr>
        <p:spPr>
          <a:xfrm>
            <a:off x="6217920" y="1417320"/>
            <a:ext cx="2468880" cy="2606040"/>
          </a:xfrm>
          <a:prstGeom prst="roundRect">
            <a:avLst>
              <a:gd name="adj" fmla="val 444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26" name="Workspace head"/>
          <p:cNvSpPr txBox="1"/>
          <p:nvPr/>
        </p:nvSpPr>
        <p:spPr>
          <a:xfrm>
            <a:off x="6400800" y="1554480"/>
            <a:ext cx="2103120" cy="320040"/>
          </a:xfrm>
          <a:prstGeom prst="rect">
            <a:avLst/>
          </a:prstGeom>
          <a:noFill/>
          <a:ln/>
        </p:spPr>
        <p:txBody>
          <a:bodyPr wrap="square" lIns="0" tIns="0" rIns="0" bIns="0" rtlCol="0" anchor="ctr"/>
          <a:lstStyle/>
          <a:p>
            <a:pPr indent="0" marL="0">
              <a:buNone/>
            </a:pPr>
            <a:r>
              <a:rPr lang="en-US" sz="1600" b="1" dirty="0">
                <a:solidFill>
                  <a:schemeClr val="bg1"/>
                </a:solidFill>
              </a:rPr>
              <a:t>Patient overview</a:t>
            </a:r>
            <a:endParaRPr lang="en-US" sz="1600" dirty="0"/>
          </a:p>
        </p:txBody>
      </p:sp>
      <p:sp>
        <p:nvSpPr>
          <p:cNvPr id="27" name="Workspace list"/>
          <p:cNvSpPr txBox="1"/>
          <p:nvPr/>
        </p:nvSpPr>
        <p:spPr>
          <a:xfrm>
            <a:off x="6400800" y="1920240"/>
            <a:ext cx="2148840" cy="19202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bg1"/>
                </a:solidFill>
              </a:rPr>
              <a:t>Review queue</a:t>
            </a:r>
            <a:endParaRPr lang="en-US" sz="1400" dirty="0"/>
          </a:p>
          <a:p>
            <a:pPr marL="177800" indent="-177800">
              <a:spcAft>
                <a:spcPts val="400"/>
              </a:spcAft>
              <a:buSzPct val="100000"/>
              <a:buChar char="•"/>
            </a:pPr>
            <a:r>
              <a:rPr lang="en-US" sz="1400" dirty="0">
                <a:solidFill>
                  <a:schemeClr val="bg1"/>
                </a:solidFill>
              </a:rPr>
              <a:t>Wearable trend charts</a:t>
            </a:r>
            <a:endParaRPr lang="en-US" sz="1400" dirty="0"/>
          </a:p>
          <a:p>
            <a:pPr marL="177800" indent="-177800">
              <a:spcAft>
                <a:spcPts val="400"/>
              </a:spcAft>
              <a:buSzPct val="100000"/>
              <a:buChar char="•"/>
            </a:pPr>
            <a:r>
              <a:rPr lang="en-US" sz="1400" dirty="0">
                <a:solidFill>
                  <a:schemeClr val="bg1"/>
                </a:solidFill>
              </a:rPr>
              <a:t>ECG replay and result</a:t>
            </a:r>
            <a:endParaRPr lang="en-US" sz="1400" dirty="0"/>
          </a:p>
          <a:p>
            <a:pPr marL="177800" indent="-177800">
              <a:spcAft>
                <a:spcPts val="400"/>
              </a:spcAft>
              <a:buSzPct val="100000"/>
              <a:buChar char="•"/>
            </a:pPr>
            <a:r>
              <a:rPr lang="en-US" sz="1400" dirty="0">
                <a:solidFill>
                  <a:schemeClr val="bg1"/>
                </a:solidFill>
              </a:rPr>
              <a:t>Score factors and history</a:t>
            </a:r>
            <a:endParaRPr lang="en-US" sz="1400" dirty="0"/>
          </a:p>
          <a:p>
            <a:pPr marL="177800" indent="-177800">
              <a:spcAft>
                <a:spcPts val="400"/>
              </a:spcAft>
              <a:buSzPct val="100000"/>
              <a:buChar char="•"/>
            </a:pPr>
            <a:r>
              <a:rPr lang="en-US" sz="1400" dirty="0">
                <a:solidFill>
                  <a:schemeClr val="bg1"/>
                </a:solidFill>
              </a:rPr>
              <a:t>Mark reviewed</a:t>
            </a:r>
            <a:endParaRPr lang="en-US" sz="1400" dirty="0"/>
          </a:p>
        </p:txBody>
      </p:sp>
      <p:sp>
        <p:nvSpPr>
          <p:cNvPr id="28" name="Arrow EHR to watch"/>
          <p:cNvSpPr/>
          <p:nvPr/>
        </p:nvSpPr>
        <p:spPr>
          <a:xfrm>
            <a:off x="2926080" y="1810512"/>
            <a:ext cx="548640" cy="109728"/>
          </a:xfrm>
          <a:prstGeom prst="line">
            <a:avLst/>
          </a:prstGeom>
          <a:noFill/>
          <a:ln w="25400">
            <a:solidFill>
              <a:schemeClr val="accent1"/>
            </a:solidFill>
            <a:prstDash val="solid"/>
            <a:tailEnd type="triangle"/>
          </a:ln>
        </p:spPr>
      </p:sp>
      <p:sp>
        <p:nvSpPr>
          <p:cNvPr id="29" name="Arrow wearable to watch"/>
          <p:cNvSpPr/>
          <p:nvPr/>
        </p:nvSpPr>
        <p:spPr>
          <a:xfrm flipV="1">
            <a:off x="2926080" y="2606040"/>
            <a:ext cx="548640" cy="118872"/>
          </a:xfrm>
          <a:prstGeom prst="line">
            <a:avLst/>
          </a:prstGeom>
          <a:noFill/>
          <a:ln w="25400">
            <a:solidFill>
              <a:schemeClr val="accent1"/>
            </a:solidFill>
            <a:prstDash val="solid"/>
            <a:tailEnd type="triangle"/>
          </a:ln>
        </p:spPr>
      </p:sp>
      <p:sp>
        <p:nvSpPr>
          <p:cNvPr id="30" name="Arrow ECG to classifier"/>
          <p:cNvSpPr/>
          <p:nvPr/>
        </p:nvSpPr>
        <p:spPr>
          <a:xfrm>
            <a:off x="2926080" y="3639312"/>
            <a:ext cx="548640" cy="0"/>
          </a:xfrm>
          <a:prstGeom prst="line">
            <a:avLst/>
          </a:prstGeom>
          <a:noFill/>
          <a:ln w="25400">
            <a:solidFill>
              <a:schemeClr val="accent1"/>
            </a:solidFill>
            <a:prstDash val="solid"/>
            <a:tailEnd type="triangle"/>
          </a:ln>
        </p:spPr>
      </p:sp>
      <p:sp>
        <p:nvSpPr>
          <p:cNvPr id="31" name="Arrow watch to workspace"/>
          <p:cNvSpPr/>
          <p:nvPr/>
        </p:nvSpPr>
        <p:spPr>
          <a:xfrm>
            <a:off x="5669280" y="2286000"/>
            <a:ext cx="548640" cy="0"/>
          </a:xfrm>
          <a:prstGeom prst="line">
            <a:avLst/>
          </a:prstGeom>
          <a:noFill/>
          <a:ln w="25400">
            <a:solidFill>
              <a:schemeClr val="accent1"/>
            </a:solidFill>
            <a:prstDash val="solid"/>
            <a:tailEnd type="triangle"/>
          </a:ln>
        </p:spPr>
      </p:sp>
      <p:sp>
        <p:nvSpPr>
          <p:cNvPr id="32" name="Arrow classifier to workspace"/>
          <p:cNvSpPr/>
          <p:nvPr/>
        </p:nvSpPr>
        <p:spPr>
          <a:xfrm>
            <a:off x="5669280" y="3639312"/>
            <a:ext cx="548640" cy="0"/>
          </a:xfrm>
          <a:prstGeom prst="line">
            <a:avLst/>
          </a:prstGeom>
          <a:noFill/>
          <a:ln w="25400">
            <a:solidFill>
              <a:schemeClr val="accent1"/>
            </a:solidFill>
            <a:prstDash val="solid"/>
            <a:tailEnd type="triangle"/>
          </a:ln>
        </p:spPr>
      </p:sp>
      <p:sp>
        <p:nvSpPr>
          <p:cNvPr id="33" name="Honesty note"/>
          <p:cNvSpPr txBox="1"/>
          <p:nvPr/>
        </p:nvSpPr>
        <p:spPr>
          <a:xfrm>
            <a:off x="457200" y="4206240"/>
            <a:ext cx="8229600" cy="411480"/>
          </a:xfrm>
          <a:prstGeom prst="rect">
            <a:avLst/>
          </a:prstGeom>
          <a:noFill/>
          <a:ln/>
        </p:spPr>
        <p:txBody>
          <a:bodyPr wrap="square" lIns="0" tIns="0" rIns="0" bIns="0" rtlCol="0" anchor="ctr"/>
          <a:lstStyle/>
          <a:p>
            <a:pPr indent="0" marL="0">
              <a:buNone/>
            </a:pPr>
            <a:r>
              <a:rPr lang="en-US" sz="1400" b="1" dirty="0">
                <a:solidFill>
                  <a:schemeClr val="tx2"/>
                </a:solidFill>
              </a:rPr>
              <a:t>Kept honest: </a:t>
            </a:r>
            <a:pPr indent="0" marL="0">
              <a:buNone/>
            </a:pPr>
            <a:r>
              <a:rPr lang="en-US" sz="1400" dirty="0">
                <a:solidFill>
                  <a:schemeClr val="tx1"/>
                </a:solidFill>
              </a:rPr>
              <a:t>the watch never uses the ECG, and the ECG sample is not that patient's own recording.</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Wearable watch: spot the shift</a:t>
            </a:r>
            <a:endParaRPr lang="en-US" sz="3400" dirty="0"/>
          </a:p>
        </p:txBody>
      </p:sp>
      <p:sp>
        <p:nvSpPr>
          <p:cNvPr id="3" name="Chart card"/>
          <p:cNvSpPr/>
          <p:nvPr/>
        </p:nvSpPr>
        <p:spPr>
          <a:xfrm>
            <a:off x="457200" y="1188720"/>
            <a:ext cx="5029200" cy="3383280"/>
          </a:xfrm>
          <a:prstGeom prst="roundRect">
            <a:avLst>
              <a:gd name="adj" fmla="val 3243"/>
            </a:avLst>
          </a:prstGeom>
          <a:solidFill>
            <a:schemeClr val="bg2"/>
          </a:solidFill>
          <a:ln w="12700">
            <a:solidFill>
              <a:schemeClr val="bg2"/>
            </a:solidFill>
            <a:prstDash val="solid"/>
          </a:ln>
        </p:spPr>
      </p:sp>
      <p:graphicFrame>
        <p:nvGraphicFramePr>
          <p:cNvPr id="4" name="Chart 0" descr=""/>
          <p:cNvGraphicFramePr/>
          <p:nvPr/>
        </p:nvGraphicFramePr>
        <p:xfrm>
          <a:off x="548640" y="1234440"/>
          <a:ext cx="4846320" cy="2971800"/>
        </p:xfrm>
        <a:graphic xmlns:a="http://schemas.openxmlformats.org/drawingml/2006/main">
          <a:graphicData uri="http://schemas.openxmlformats.org/drawingml/2006/chart">
            <c:chart xmlns:c="http://schemas.openxmlformats.org/drawingml/2006/chart" r:id="rId1"/>
          </a:graphicData>
        </a:graphic>
      </p:graphicFrame>
      <p:sp>
        <p:nvSpPr>
          <p:cNvPr id="5" name="Chart caption"/>
          <p:cNvSpPr txBox="1"/>
          <p:nvPr/>
        </p:nvSpPr>
        <p:spPr>
          <a:xfrm>
            <a:off x="640080" y="4251960"/>
            <a:ext cx="4663440" cy="256032"/>
          </a:xfrm>
          <a:prstGeom prst="rect">
            <a:avLst/>
          </a:prstGeom>
          <a:noFill/>
          <a:ln/>
        </p:spPr>
        <p:txBody>
          <a:bodyPr wrap="square" lIns="0" tIns="0" rIns="0" bIns="0" rtlCol="0" anchor="ctr"/>
          <a:lstStyle/>
          <a:p>
            <a:pPr indent="0" marL="0">
              <a:buNone/>
            </a:pPr>
            <a:r>
              <a:rPr lang="en-US" sz="1100" i="1" dirty="0">
                <a:solidFill>
                  <a:schemeClr val="accent5"/>
                </a:solidFill>
              </a:rPr>
              <a:t>Noise-free view of the scripted scenario in the demo data</a:t>
            </a:r>
            <a:endParaRPr lang="en-US" sz="1100" dirty="0"/>
          </a:p>
        </p:txBody>
      </p:sp>
      <p:sp>
        <p:nvSpPr>
          <p:cNvPr id="6" name="Rule head"/>
          <p:cNvSpPr txBox="1"/>
          <p:nvPr/>
        </p:nvSpPr>
        <p:spPr>
          <a:xfrm>
            <a:off x="5760720" y="1188720"/>
            <a:ext cx="2926080" cy="320040"/>
          </a:xfrm>
          <a:prstGeom prst="rect">
            <a:avLst/>
          </a:prstGeom>
          <a:noFill/>
          <a:ln/>
        </p:spPr>
        <p:txBody>
          <a:bodyPr wrap="square" lIns="0" tIns="0" rIns="0" bIns="0" rtlCol="0" anchor="ctr"/>
          <a:lstStyle/>
          <a:p>
            <a:pPr indent="0" marL="0">
              <a:buNone/>
            </a:pPr>
            <a:r>
              <a:rPr lang="en-US" sz="2000" b="1" dirty="0">
                <a:solidFill>
                  <a:schemeClr val="tx2"/>
                </a:solidFill>
              </a:rPr>
              <a:t>The rule</a:t>
            </a:r>
            <a:endParaRPr lang="en-US" sz="2000" dirty="0"/>
          </a:p>
        </p:txBody>
      </p:sp>
      <p:sp>
        <p:nvSpPr>
          <p:cNvPr id="7" name="Rule sub"/>
          <p:cNvSpPr txBox="1"/>
          <p:nvPr/>
        </p:nvSpPr>
        <p:spPr>
          <a:xfrm>
            <a:off x="5760720" y="1508760"/>
            <a:ext cx="2926080" cy="274320"/>
          </a:xfrm>
          <a:prstGeom prst="rect">
            <a:avLst/>
          </a:prstGeom>
          <a:noFill/>
          <a:ln/>
        </p:spPr>
        <p:txBody>
          <a:bodyPr wrap="square" lIns="0" tIns="0" rIns="0" bIns="0" rtlCol="0" anchor="ctr"/>
          <a:lstStyle/>
          <a:p>
            <a:pPr indent="0" marL="0">
              <a:buNone/>
            </a:pPr>
            <a:r>
              <a:rPr lang="en-US" sz="1200" dirty="0">
                <a:solidFill>
                  <a:schemeClr val="accent5"/>
                </a:solidFill>
              </a:rPr>
              <a:t>First 3 days vs latest 3 days</a:t>
            </a:r>
            <a:endParaRPr lang="en-US" sz="1200" dirty="0"/>
          </a:p>
        </p:txBody>
      </p:sp>
      <p:sp>
        <p:nvSpPr>
          <p:cNvPr id="8" name="Rule row 1"/>
          <p:cNvSpPr/>
          <p:nvPr/>
        </p:nvSpPr>
        <p:spPr>
          <a:xfrm>
            <a:off x="5760720" y="1874520"/>
            <a:ext cx="2926080" cy="384048"/>
          </a:xfrm>
          <a:prstGeom prst="roundRect">
            <a:avLst>
              <a:gd name="adj" fmla="val 28571"/>
            </a:avLst>
          </a:prstGeom>
          <a:solidFill>
            <a:schemeClr val="bg2"/>
          </a:solidFill>
          <a:ln w="12700">
            <a:solidFill>
              <a:schemeClr val="bg2"/>
            </a:solidFill>
            <a:prstDash val="solid"/>
          </a:ln>
        </p:spPr>
      </p:sp>
      <p:sp>
        <p:nvSpPr>
          <p:cNvPr id="9" name="Rule dot 1"/>
          <p:cNvSpPr/>
          <p:nvPr/>
        </p:nvSpPr>
        <p:spPr>
          <a:xfrm>
            <a:off x="5870448" y="1984248"/>
            <a:ext cx="164592" cy="164592"/>
          </a:xfrm>
          <a:prstGeom prst="ellipse">
            <a:avLst/>
          </a:prstGeom>
          <a:solidFill>
            <a:schemeClr val="accent3"/>
          </a:solidFill>
          <a:ln w="12700">
            <a:solidFill>
              <a:schemeClr val="accent3"/>
            </a:solidFill>
            <a:prstDash val="solid"/>
          </a:ln>
        </p:spPr>
      </p:sp>
      <p:sp>
        <p:nvSpPr>
          <p:cNvPr id="10" name="Rule name 1"/>
          <p:cNvSpPr txBox="1"/>
          <p:nvPr/>
        </p:nvSpPr>
        <p:spPr>
          <a:xfrm>
            <a:off x="6144768" y="1874520"/>
            <a:ext cx="1280160" cy="384048"/>
          </a:xfrm>
          <a:prstGeom prst="rect">
            <a:avLst/>
          </a:prstGeom>
          <a:noFill/>
          <a:ln/>
        </p:spPr>
        <p:txBody>
          <a:bodyPr wrap="square" lIns="0" tIns="0" rIns="0" bIns="0" rtlCol="0" anchor="ctr"/>
          <a:lstStyle/>
          <a:p>
            <a:pPr indent="0" marL="0">
              <a:buNone/>
            </a:pPr>
            <a:r>
              <a:rPr lang="en-US" sz="1400" b="1" dirty="0">
                <a:solidFill>
                  <a:schemeClr val="tx2"/>
                </a:solidFill>
              </a:rPr>
              <a:t>Resting HR</a:t>
            </a:r>
            <a:endParaRPr lang="en-US" sz="1400" dirty="0"/>
          </a:p>
        </p:txBody>
      </p:sp>
      <p:sp>
        <p:nvSpPr>
          <p:cNvPr id="11" name="Rule value 1"/>
          <p:cNvSpPr txBox="1"/>
          <p:nvPr/>
        </p:nvSpPr>
        <p:spPr>
          <a:xfrm>
            <a:off x="7406640" y="1874520"/>
            <a:ext cx="1188720" cy="384048"/>
          </a:xfrm>
          <a:prstGeom prst="rect">
            <a:avLst/>
          </a:prstGeom>
          <a:noFill/>
          <a:ln/>
        </p:spPr>
        <p:txBody>
          <a:bodyPr wrap="square" lIns="0" tIns="0" rIns="0" bIns="0" rtlCol="0" anchor="ctr"/>
          <a:lstStyle/>
          <a:p>
            <a:pPr algn="r" indent="0" marL="0">
              <a:buNone/>
            </a:pPr>
            <a:r>
              <a:rPr lang="en-US" sz="1400" dirty="0">
                <a:solidFill>
                  <a:schemeClr val="tx1"/>
                </a:solidFill>
              </a:rPr>
              <a:t>up 10%+</a:t>
            </a:r>
            <a:endParaRPr lang="en-US" sz="1400" dirty="0"/>
          </a:p>
        </p:txBody>
      </p:sp>
      <p:sp>
        <p:nvSpPr>
          <p:cNvPr id="12" name="Rule row 2"/>
          <p:cNvSpPr/>
          <p:nvPr/>
        </p:nvSpPr>
        <p:spPr>
          <a:xfrm>
            <a:off x="5760720" y="2331720"/>
            <a:ext cx="2926080" cy="384048"/>
          </a:xfrm>
          <a:prstGeom prst="roundRect">
            <a:avLst>
              <a:gd name="adj" fmla="val 28571"/>
            </a:avLst>
          </a:prstGeom>
          <a:solidFill>
            <a:schemeClr val="bg2"/>
          </a:solidFill>
          <a:ln w="12700">
            <a:solidFill>
              <a:schemeClr val="bg2"/>
            </a:solidFill>
            <a:prstDash val="solid"/>
          </a:ln>
        </p:spPr>
      </p:sp>
      <p:sp>
        <p:nvSpPr>
          <p:cNvPr id="13" name="Rule dot 2"/>
          <p:cNvSpPr/>
          <p:nvPr/>
        </p:nvSpPr>
        <p:spPr>
          <a:xfrm>
            <a:off x="5870448" y="2441448"/>
            <a:ext cx="164592" cy="164592"/>
          </a:xfrm>
          <a:prstGeom prst="ellipse">
            <a:avLst/>
          </a:prstGeom>
          <a:solidFill>
            <a:schemeClr val="accent4"/>
          </a:solidFill>
          <a:ln w="12700">
            <a:solidFill>
              <a:schemeClr val="accent4"/>
            </a:solidFill>
            <a:prstDash val="solid"/>
          </a:ln>
        </p:spPr>
      </p:sp>
      <p:sp>
        <p:nvSpPr>
          <p:cNvPr id="14" name="Rule name 2"/>
          <p:cNvSpPr txBox="1"/>
          <p:nvPr/>
        </p:nvSpPr>
        <p:spPr>
          <a:xfrm>
            <a:off x="6144768" y="2331720"/>
            <a:ext cx="1280160" cy="384048"/>
          </a:xfrm>
          <a:prstGeom prst="rect">
            <a:avLst/>
          </a:prstGeom>
          <a:noFill/>
          <a:ln/>
        </p:spPr>
        <p:txBody>
          <a:bodyPr wrap="square" lIns="0" tIns="0" rIns="0" bIns="0" rtlCol="0" anchor="ctr"/>
          <a:lstStyle/>
          <a:p>
            <a:pPr indent="0" marL="0">
              <a:buNone/>
            </a:pPr>
            <a:r>
              <a:rPr lang="en-US" sz="1400" b="1" dirty="0">
                <a:solidFill>
                  <a:schemeClr val="tx2"/>
                </a:solidFill>
              </a:rPr>
              <a:t>HRV</a:t>
            </a:r>
            <a:endParaRPr lang="en-US" sz="1400" dirty="0"/>
          </a:p>
        </p:txBody>
      </p:sp>
      <p:sp>
        <p:nvSpPr>
          <p:cNvPr id="15" name="Rule value 2"/>
          <p:cNvSpPr txBox="1"/>
          <p:nvPr/>
        </p:nvSpPr>
        <p:spPr>
          <a:xfrm>
            <a:off x="7406640" y="2331720"/>
            <a:ext cx="1188720" cy="384048"/>
          </a:xfrm>
          <a:prstGeom prst="rect">
            <a:avLst/>
          </a:prstGeom>
          <a:noFill/>
          <a:ln/>
        </p:spPr>
        <p:txBody>
          <a:bodyPr wrap="square" lIns="0" tIns="0" rIns="0" bIns="0" rtlCol="0" anchor="ctr"/>
          <a:lstStyle/>
          <a:p>
            <a:pPr algn="r" indent="0" marL="0">
              <a:buNone/>
            </a:pPr>
            <a:r>
              <a:rPr lang="en-US" sz="1400" dirty="0">
                <a:solidFill>
                  <a:schemeClr val="tx1"/>
                </a:solidFill>
              </a:rPr>
              <a:t>down 20%+</a:t>
            </a:r>
            <a:endParaRPr lang="en-US" sz="1400" dirty="0"/>
          </a:p>
        </p:txBody>
      </p:sp>
      <p:sp>
        <p:nvSpPr>
          <p:cNvPr id="16" name="Rule row 3"/>
          <p:cNvSpPr/>
          <p:nvPr/>
        </p:nvSpPr>
        <p:spPr>
          <a:xfrm>
            <a:off x="5760720" y="2788920"/>
            <a:ext cx="2926080" cy="384048"/>
          </a:xfrm>
          <a:prstGeom prst="roundRect">
            <a:avLst>
              <a:gd name="adj" fmla="val 28571"/>
            </a:avLst>
          </a:prstGeom>
          <a:solidFill>
            <a:schemeClr val="bg2"/>
          </a:solidFill>
          <a:ln w="12700">
            <a:solidFill>
              <a:schemeClr val="bg2"/>
            </a:solidFill>
            <a:prstDash val="solid"/>
          </a:ln>
        </p:spPr>
      </p:sp>
      <p:sp>
        <p:nvSpPr>
          <p:cNvPr id="17" name="Rule dot 3"/>
          <p:cNvSpPr/>
          <p:nvPr/>
        </p:nvSpPr>
        <p:spPr>
          <a:xfrm>
            <a:off x="5870448" y="2898648"/>
            <a:ext cx="164592" cy="164592"/>
          </a:xfrm>
          <a:prstGeom prst="ellipse">
            <a:avLst/>
          </a:prstGeom>
          <a:solidFill>
            <a:schemeClr val="accent5"/>
          </a:solidFill>
          <a:ln w="12700">
            <a:solidFill>
              <a:schemeClr val="accent5"/>
            </a:solidFill>
            <a:prstDash val="solid"/>
          </a:ln>
        </p:spPr>
      </p:sp>
      <p:sp>
        <p:nvSpPr>
          <p:cNvPr id="18" name="Rule name 3"/>
          <p:cNvSpPr txBox="1"/>
          <p:nvPr/>
        </p:nvSpPr>
        <p:spPr>
          <a:xfrm>
            <a:off x="6144768" y="2788920"/>
            <a:ext cx="1280160" cy="384048"/>
          </a:xfrm>
          <a:prstGeom prst="rect">
            <a:avLst/>
          </a:prstGeom>
          <a:noFill/>
          <a:ln/>
        </p:spPr>
        <p:txBody>
          <a:bodyPr wrap="square" lIns="0" tIns="0" rIns="0" bIns="0" rtlCol="0" anchor="ctr"/>
          <a:lstStyle/>
          <a:p>
            <a:pPr indent="0" marL="0">
              <a:buNone/>
            </a:pPr>
            <a:r>
              <a:rPr lang="en-US" sz="1400" b="1" dirty="0">
                <a:solidFill>
                  <a:schemeClr val="tx2"/>
                </a:solidFill>
              </a:rPr>
              <a:t>Sleep</a:t>
            </a:r>
            <a:endParaRPr lang="en-US" sz="1400" dirty="0"/>
          </a:p>
        </p:txBody>
      </p:sp>
      <p:sp>
        <p:nvSpPr>
          <p:cNvPr id="19" name="Rule value 3"/>
          <p:cNvSpPr txBox="1"/>
          <p:nvPr/>
        </p:nvSpPr>
        <p:spPr>
          <a:xfrm>
            <a:off x="7406640" y="2788920"/>
            <a:ext cx="1188720" cy="384048"/>
          </a:xfrm>
          <a:prstGeom prst="rect">
            <a:avLst/>
          </a:prstGeom>
          <a:noFill/>
          <a:ln/>
        </p:spPr>
        <p:txBody>
          <a:bodyPr wrap="square" lIns="0" tIns="0" rIns="0" bIns="0" rtlCol="0" anchor="ctr"/>
          <a:lstStyle/>
          <a:p>
            <a:pPr algn="r" indent="0" marL="0">
              <a:buNone/>
            </a:pPr>
            <a:r>
              <a:rPr lang="en-US" sz="1400" dirty="0">
                <a:solidFill>
                  <a:schemeClr val="tx1"/>
                </a:solidFill>
              </a:rPr>
              <a:t>down 15%+</a:t>
            </a:r>
            <a:endParaRPr lang="en-US" sz="1400" dirty="0"/>
          </a:p>
        </p:txBody>
      </p:sp>
      <p:sp>
        <p:nvSpPr>
          <p:cNvPr id="20" name="Rule row 4"/>
          <p:cNvSpPr/>
          <p:nvPr/>
        </p:nvSpPr>
        <p:spPr>
          <a:xfrm>
            <a:off x="5760720" y="3246120"/>
            <a:ext cx="2926080" cy="384048"/>
          </a:xfrm>
          <a:prstGeom prst="roundRect">
            <a:avLst>
              <a:gd name="adj" fmla="val 28571"/>
            </a:avLst>
          </a:prstGeom>
          <a:solidFill>
            <a:schemeClr val="bg2"/>
          </a:solidFill>
          <a:ln w="12700">
            <a:solidFill>
              <a:schemeClr val="bg2"/>
            </a:solidFill>
            <a:prstDash val="solid"/>
          </a:ln>
        </p:spPr>
      </p:sp>
      <p:sp>
        <p:nvSpPr>
          <p:cNvPr id="21" name="Rule dot 4"/>
          <p:cNvSpPr/>
          <p:nvPr/>
        </p:nvSpPr>
        <p:spPr>
          <a:xfrm>
            <a:off x="5870448" y="3355848"/>
            <a:ext cx="164592" cy="164592"/>
          </a:xfrm>
          <a:prstGeom prst="ellipse">
            <a:avLst/>
          </a:prstGeom>
          <a:solidFill>
            <a:schemeClr val="accent1"/>
          </a:solidFill>
          <a:ln w="12700">
            <a:solidFill>
              <a:schemeClr val="accent1"/>
            </a:solidFill>
            <a:prstDash val="solid"/>
          </a:ln>
        </p:spPr>
      </p:sp>
      <p:sp>
        <p:nvSpPr>
          <p:cNvPr id="22" name="Rule name 4"/>
          <p:cNvSpPr txBox="1"/>
          <p:nvPr/>
        </p:nvSpPr>
        <p:spPr>
          <a:xfrm>
            <a:off x="6144768" y="3246120"/>
            <a:ext cx="1280160" cy="384048"/>
          </a:xfrm>
          <a:prstGeom prst="rect">
            <a:avLst/>
          </a:prstGeom>
          <a:noFill/>
          <a:ln/>
        </p:spPr>
        <p:txBody>
          <a:bodyPr wrap="square" lIns="0" tIns="0" rIns="0" bIns="0" rtlCol="0" anchor="ctr"/>
          <a:lstStyle/>
          <a:p>
            <a:pPr indent="0" marL="0">
              <a:buNone/>
            </a:pPr>
            <a:r>
              <a:rPr lang="en-US" sz="1400" b="1" dirty="0">
                <a:solidFill>
                  <a:schemeClr val="tx2"/>
                </a:solidFill>
              </a:rPr>
              <a:t>Steps</a:t>
            </a:r>
            <a:endParaRPr lang="en-US" sz="1400" dirty="0"/>
          </a:p>
        </p:txBody>
      </p:sp>
      <p:sp>
        <p:nvSpPr>
          <p:cNvPr id="23" name="Rule value 4"/>
          <p:cNvSpPr txBox="1"/>
          <p:nvPr/>
        </p:nvSpPr>
        <p:spPr>
          <a:xfrm>
            <a:off x="7406640" y="3246120"/>
            <a:ext cx="1188720" cy="384048"/>
          </a:xfrm>
          <a:prstGeom prst="rect">
            <a:avLst/>
          </a:prstGeom>
          <a:noFill/>
          <a:ln/>
        </p:spPr>
        <p:txBody>
          <a:bodyPr wrap="square" lIns="0" tIns="0" rIns="0" bIns="0" rtlCol="0" anchor="ctr"/>
          <a:lstStyle/>
          <a:p>
            <a:pPr algn="r" indent="0" marL="0">
              <a:buNone/>
            </a:pPr>
            <a:r>
              <a:rPr lang="en-US" sz="1400" dirty="0">
                <a:solidFill>
                  <a:schemeClr val="tx1"/>
                </a:solidFill>
              </a:rPr>
              <a:t>down 25%+</a:t>
            </a:r>
            <a:endParaRPr lang="en-US" sz="1400" dirty="0"/>
          </a:p>
        </p:txBody>
      </p:sp>
      <p:sp>
        <p:nvSpPr>
          <p:cNvPr id="24" name="Trigger card"/>
          <p:cNvSpPr/>
          <p:nvPr/>
        </p:nvSpPr>
        <p:spPr>
          <a:xfrm>
            <a:off x="5760720" y="3749040"/>
            <a:ext cx="2926080" cy="822960"/>
          </a:xfrm>
          <a:prstGeom prst="roundRect">
            <a:avLst>
              <a:gd name="adj" fmla="val 13333"/>
            </a:avLst>
          </a:prstGeom>
          <a:solidFill>
            <a:schemeClr val="accent1"/>
          </a:solidFill>
          <a:ln w="12700">
            <a:solidFill>
              <a:schemeClr val="accent1"/>
            </a:solidFill>
            <a:prstDash val="solid"/>
          </a:ln>
        </p:spPr>
      </p:sp>
      <p:sp>
        <p:nvSpPr>
          <p:cNvPr id="25" name="Trigger text"/>
          <p:cNvSpPr txBox="1"/>
          <p:nvPr/>
        </p:nvSpPr>
        <p:spPr>
          <a:xfrm>
            <a:off x="5897880" y="3749040"/>
            <a:ext cx="2651760" cy="822960"/>
          </a:xfrm>
          <a:prstGeom prst="rect">
            <a:avLst/>
          </a:prstGeom>
          <a:noFill/>
          <a:ln/>
        </p:spPr>
        <p:txBody>
          <a:bodyPr wrap="square" lIns="0" tIns="0" rIns="0" bIns="0" rtlCol="0" anchor="ctr"/>
          <a:lstStyle/>
          <a:p>
            <a:pPr indent="0" marL="0">
              <a:buNone/>
            </a:pPr>
            <a:r>
              <a:rPr lang="en-US" sz="1400" dirty="0">
                <a:solidFill>
                  <a:schemeClr val="bg1"/>
                </a:solidFill>
              </a:rPr>
              <a:t>Watch triggers when </a:t>
            </a:r>
            <a:pPr indent="0" marL="0">
              <a:buNone/>
            </a:pPr>
            <a:r>
              <a:rPr lang="en-US" sz="1400" b="1" dirty="0">
                <a:solidFill>
                  <a:schemeClr val="bg1"/>
                </a:solidFill>
              </a:rPr>
              <a:t>2+ thresholds</a:t>
            </a:r>
            <a:pPr indent="0" marL="0">
              <a:buNone/>
            </a:pPr>
            <a:r>
              <a:rPr lang="en-US" sz="1400" dirty="0">
                <a:solidFill>
                  <a:schemeClr val="bg1"/>
                </a:solidFill>
              </a:rPr>
              <a:t> are crossed and the profile has </a:t>
            </a:r>
            <a:pPr indent="0" marL="0">
              <a:buNone/>
            </a:pPr>
            <a:r>
              <a:rPr lang="en-US" sz="1400" b="1" dirty="0">
                <a:solidFill>
                  <a:schemeClr val="bg1"/>
                </a:solidFill>
              </a:rPr>
              <a:t>1+ risk factor</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ECG model that can say “unsure”</a:t>
            </a:r>
            <a:endParaRPr lang="en-US" sz="3400" dirty="0"/>
          </a:p>
        </p:txBody>
      </p:sp>
      <p:pic>
        <p:nvPicPr>
          <p:cNvPr id="3" name="ECG strips" descr="Two illustrative ECG strips: a regular rhythm and an irregular AFib-like rhythm, with R peaks marked">    </p:cNvPr>
          <p:cNvPicPr>
            <a:picLocks noChangeAspect="1"/>
          </p:cNvPicPr>
          <p:nvPr/>
        </p:nvPicPr>
        <p:blipFill>
          <a:blip r:embed="rId1"/>
          <a:stretch>
            <a:fillRect/>
          </a:stretch>
        </p:blipFill>
        <p:spPr>
          <a:xfrm>
            <a:off x="457200" y="1188720"/>
            <a:ext cx="4846320" cy="2180844"/>
          </a:xfrm>
          <a:prstGeom prst="rect">
            <a:avLst/>
          </a:prstGeom>
        </p:spPr>
      </p:pic>
      <p:sp>
        <p:nvSpPr>
          <p:cNvPr id="4" name="ECG caption"/>
          <p:cNvSpPr txBox="1"/>
          <p:nvPr/>
        </p:nvSpPr>
        <p:spPr>
          <a:xfrm>
            <a:off x="457200" y="3401568"/>
            <a:ext cx="4846320" cy="256032"/>
          </a:xfrm>
          <a:prstGeom prst="rect">
            <a:avLst/>
          </a:prstGeom>
          <a:noFill/>
          <a:ln/>
        </p:spPr>
        <p:txBody>
          <a:bodyPr wrap="square" lIns="0" tIns="0" rIns="0" bIns="0" rtlCol="0" anchor="ctr"/>
          <a:lstStyle/>
          <a:p>
            <a:pPr indent="0" marL="0">
              <a:buNone/>
            </a:pPr>
            <a:r>
              <a:rPr lang="en-US" sz="1100" i="1" dirty="0">
                <a:solidFill>
                  <a:schemeClr val="accent5"/>
                </a:solidFill>
              </a:rPr>
              <a:t>Illustrative synthetic waveforms, not patient data</a:t>
            </a:r>
            <a:endParaRPr lang="en-US" sz="1100" dirty="0"/>
          </a:p>
        </p:txBody>
      </p:sp>
      <p:sp>
        <p:nvSpPr>
          <p:cNvPr id="5" name="Result head"/>
          <p:cNvSpPr txBox="1"/>
          <p:nvPr/>
        </p:nvSpPr>
        <p:spPr>
          <a:xfrm>
            <a:off x="5577840" y="1188720"/>
            <a:ext cx="3108960" cy="320040"/>
          </a:xfrm>
          <a:prstGeom prst="rect">
            <a:avLst/>
          </a:prstGeom>
          <a:noFill/>
          <a:ln/>
        </p:spPr>
        <p:txBody>
          <a:bodyPr wrap="square" lIns="0" tIns="0" rIns="0" bIns="0" rtlCol="0" anchor="ctr"/>
          <a:lstStyle/>
          <a:p>
            <a:pPr indent="0" marL="0">
              <a:buNone/>
            </a:pPr>
            <a:r>
              <a:rPr lang="en-US" sz="2000" b="1" dirty="0">
                <a:solidFill>
                  <a:schemeClr val="tx2"/>
                </a:solidFill>
              </a:rPr>
              <a:t>What the model returns</a:t>
            </a:r>
            <a:endParaRPr lang="en-US" sz="2000" dirty="0"/>
          </a:p>
        </p:txBody>
      </p:sp>
      <p:sp>
        <p:nvSpPr>
          <p:cNvPr id="6" name="Class row 1"/>
          <p:cNvSpPr/>
          <p:nvPr/>
        </p:nvSpPr>
        <p:spPr>
          <a:xfrm>
            <a:off x="5577840" y="1600200"/>
            <a:ext cx="3108960" cy="457200"/>
          </a:xfrm>
          <a:prstGeom prst="roundRect">
            <a:avLst>
              <a:gd name="adj" fmla="val 24000"/>
            </a:avLst>
          </a:prstGeom>
          <a:solidFill>
            <a:schemeClr val="bg2"/>
          </a:solidFill>
          <a:ln w="12700">
            <a:solidFill>
              <a:schemeClr val="bg2"/>
            </a:solidFill>
            <a:prstDash val="solid"/>
          </a:ln>
        </p:spPr>
      </p:sp>
      <p:sp>
        <p:nvSpPr>
          <p:cNvPr id="7" name="Class dot 1"/>
          <p:cNvSpPr/>
          <p:nvPr/>
        </p:nvSpPr>
        <p:spPr>
          <a:xfrm>
            <a:off x="5687568" y="1746504"/>
            <a:ext cx="164592" cy="164592"/>
          </a:xfrm>
          <a:prstGeom prst="ellipse">
            <a:avLst/>
          </a:prstGeom>
          <a:solidFill>
            <a:schemeClr val="accent1"/>
          </a:solidFill>
          <a:ln w="12700">
            <a:solidFill>
              <a:schemeClr val="accent1"/>
            </a:solidFill>
            <a:prstDash val="solid"/>
          </a:ln>
        </p:spPr>
      </p:sp>
      <p:sp>
        <p:nvSpPr>
          <p:cNvPr id="8" name="Class text 1"/>
          <p:cNvSpPr txBox="1"/>
          <p:nvPr/>
        </p:nvSpPr>
        <p:spPr>
          <a:xfrm>
            <a:off x="5943600" y="1600200"/>
            <a:ext cx="2697480" cy="457200"/>
          </a:xfrm>
          <a:prstGeom prst="rect">
            <a:avLst/>
          </a:prstGeom>
          <a:noFill/>
          <a:ln/>
        </p:spPr>
        <p:txBody>
          <a:bodyPr wrap="square" lIns="0" tIns="0" rIns="0" bIns="0" rtlCol="0" anchor="ctr"/>
          <a:lstStyle/>
          <a:p>
            <a:pPr indent="0" marL="0">
              <a:buNone/>
            </a:pPr>
            <a:r>
              <a:rPr lang="en-US" sz="1400" b="1" dirty="0">
                <a:solidFill>
                  <a:schemeClr val="tx2"/>
                </a:solidFill>
              </a:rPr>
              <a:t>Normal rhythm</a:t>
            </a:r>
            <a:endParaRPr lang="en-US" sz="1400" dirty="0"/>
          </a:p>
          <a:p>
            <a:pPr indent="0" marL="0">
              <a:buNone/>
            </a:pPr>
            <a:r>
              <a:rPr lang="en-US" sz="1100" dirty="0">
                <a:solidFill>
                  <a:schemeClr val="accent5"/>
                </a:solidFill>
              </a:rPr>
              <a:t>Shown as no AFib pattern</a:t>
            </a:r>
            <a:endParaRPr lang="en-US" sz="1400" dirty="0"/>
          </a:p>
        </p:txBody>
      </p:sp>
      <p:sp>
        <p:nvSpPr>
          <p:cNvPr id="9" name="Class row 2"/>
          <p:cNvSpPr/>
          <p:nvPr/>
        </p:nvSpPr>
        <p:spPr>
          <a:xfrm>
            <a:off x="5577840" y="2130552"/>
            <a:ext cx="3108960" cy="457200"/>
          </a:xfrm>
          <a:prstGeom prst="roundRect">
            <a:avLst>
              <a:gd name="adj" fmla="val 24000"/>
            </a:avLst>
          </a:prstGeom>
          <a:solidFill>
            <a:schemeClr val="bg2"/>
          </a:solidFill>
          <a:ln w="12700">
            <a:solidFill>
              <a:schemeClr val="bg2"/>
            </a:solidFill>
            <a:prstDash val="solid"/>
          </a:ln>
        </p:spPr>
      </p:sp>
      <p:sp>
        <p:nvSpPr>
          <p:cNvPr id="10" name="Class dot 2"/>
          <p:cNvSpPr/>
          <p:nvPr/>
        </p:nvSpPr>
        <p:spPr>
          <a:xfrm>
            <a:off x="5687568" y="2276856"/>
            <a:ext cx="164592" cy="164592"/>
          </a:xfrm>
          <a:prstGeom prst="ellipse">
            <a:avLst/>
          </a:prstGeom>
          <a:solidFill>
            <a:schemeClr val="accent3"/>
          </a:solidFill>
          <a:ln w="12700">
            <a:solidFill>
              <a:schemeClr val="accent3"/>
            </a:solidFill>
            <a:prstDash val="solid"/>
          </a:ln>
        </p:spPr>
      </p:sp>
      <p:sp>
        <p:nvSpPr>
          <p:cNvPr id="11" name="Class text 2"/>
          <p:cNvSpPr txBox="1"/>
          <p:nvPr/>
        </p:nvSpPr>
        <p:spPr>
          <a:xfrm>
            <a:off x="5943600" y="2130552"/>
            <a:ext cx="2697480" cy="457200"/>
          </a:xfrm>
          <a:prstGeom prst="rect">
            <a:avLst/>
          </a:prstGeom>
          <a:noFill/>
          <a:ln/>
        </p:spPr>
        <p:txBody>
          <a:bodyPr wrap="square" lIns="0" tIns="0" rIns="0" bIns="0" rtlCol="0" anchor="ctr"/>
          <a:lstStyle/>
          <a:p>
            <a:pPr indent="0" marL="0">
              <a:buNone/>
            </a:pPr>
            <a:r>
              <a:rPr lang="en-US" sz="1400" b="1" dirty="0">
                <a:solidFill>
                  <a:schemeClr val="tx2"/>
                </a:solidFill>
              </a:rPr>
              <a:t>AFib pattern</a:t>
            </a:r>
            <a:endParaRPr lang="en-US" sz="1400" dirty="0"/>
          </a:p>
          <a:p>
            <a:pPr indent="0" marL="0">
              <a:buNone/>
            </a:pPr>
            <a:r>
              <a:rPr lang="en-US" sz="1100" dirty="0">
                <a:solidFill>
                  <a:schemeClr val="accent5"/>
                </a:solidFill>
              </a:rPr>
              <a:t>Shown as AFib pattern</a:t>
            </a:r>
            <a:endParaRPr lang="en-US" sz="1400" dirty="0"/>
          </a:p>
        </p:txBody>
      </p:sp>
      <p:sp>
        <p:nvSpPr>
          <p:cNvPr id="12" name="Class row 3"/>
          <p:cNvSpPr/>
          <p:nvPr/>
        </p:nvSpPr>
        <p:spPr>
          <a:xfrm>
            <a:off x="5577840" y="2660904"/>
            <a:ext cx="3108960" cy="457200"/>
          </a:xfrm>
          <a:prstGeom prst="roundRect">
            <a:avLst>
              <a:gd name="adj" fmla="val 24000"/>
            </a:avLst>
          </a:prstGeom>
          <a:solidFill>
            <a:schemeClr val="bg2"/>
          </a:solidFill>
          <a:ln w="12700">
            <a:solidFill>
              <a:schemeClr val="bg2"/>
            </a:solidFill>
            <a:prstDash val="solid"/>
          </a:ln>
        </p:spPr>
      </p:sp>
      <p:sp>
        <p:nvSpPr>
          <p:cNvPr id="13" name="Class dot 3"/>
          <p:cNvSpPr/>
          <p:nvPr/>
        </p:nvSpPr>
        <p:spPr>
          <a:xfrm>
            <a:off x="5687568" y="2807208"/>
            <a:ext cx="164592" cy="164592"/>
          </a:xfrm>
          <a:prstGeom prst="ellipse">
            <a:avLst/>
          </a:prstGeom>
          <a:solidFill>
            <a:schemeClr val="accent5"/>
          </a:solidFill>
          <a:ln w="12700">
            <a:solidFill>
              <a:schemeClr val="accent5"/>
            </a:solidFill>
            <a:prstDash val="solid"/>
          </a:ln>
        </p:spPr>
      </p:sp>
      <p:sp>
        <p:nvSpPr>
          <p:cNvPr id="14" name="Class text 3"/>
          <p:cNvSpPr txBox="1"/>
          <p:nvPr/>
        </p:nvSpPr>
        <p:spPr>
          <a:xfrm>
            <a:off x="5943600" y="2660904"/>
            <a:ext cx="2697480" cy="457200"/>
          </a:xfrm>
          <a:prstGeom prst="rect">
            <a:avLst/>
          </a:prstGeom>
          <a:noFill/>
          <a:ln/>
        </p:spPr>
        <p:txBody>
          <a:bodyPr wrap="square" lIns="0" tIns="0" rIns="0" bIns="0" rtlCol="0" anchor="ctr"/>
          <a:lstStyle/>
          <a:p>
            <a:pPr indent="0" marL="0">
              <a:buNone/>
            </a:pPr>
            <a:r>
              <a:rPr lang="en-US" sz="1400" b="1" dirty="0">
                <a:solidFill>
                  <a:schemeClr val="tx2"/>
                </a:solidFill>
              </a:rPr>
              <a:t>Other rhythm</a:t>
            </a:r>
            <a:endParaRPr lang="en-US" sz="1400" dirty="0"/>
          </a:p>
          <a:p>
            <a:pPr indent="0" marL="0">
              <a:buNone/>
            </a:pPr>
            <a:r>
              <a:rPr lang="en-US" sz="1100" dirty="0">
                <a:solidFill>
                  <a:schemeClr val="accent5"/>
                </a:solidFill>
              </a:rPr>
              <a:t>Shown as inconclusive</a:t>
            </a:r>
            <a:endParaRPr lang="en-US" sz="1400" dirty="0"/>
          </a:p>
        </p:txBody>
      </p:sp>
      <p:sp>
        <p:nvSpPr>
          <p:cNvPr id="15" name="Class row 4"/>
          <p:cNvSpPr/>
          <p:nvPr/>
        </p:nvSpPr>
        <p:spPr>
          <a:xfrm>
            <a:off x="5577840" y="3191256"/>
            <a:ext cx="3108960" cy="457200"/>
          </a:xfrm>
          <a:prstGeom prst="roundRect">
            <a:avLst>
              <a:gd name="adj" fmla="val 24000"/>
            </a:avLst>
          </a:prstGeom>
          <a:solidFill>
            <a:schemeClr val="bg2"/>
          </a:solidFill>
          <a:ln w="12700">
            <a:solidFill>
              <a:schemeClr val="bg2"/>
            </a:solidFill>
            <a:prstDash val="solid"/>
          </a:ln>
        </p:spPr>
      </p:sp>
      <p:sp>
        <p:nvSpPr>
          <p:cNvPr id="16" name="Class dot 4"/>
          <p:cNvSpPr/>
          <p:nvPr/>
        </p:nvSpPr>
        <p:spPr>
          <a:xfrm>
            <a:off x="5687568" y="3337560"/>
            <a:ext cx="164592" cy="164592"/>
          </a:xfrm>
          <a:prstGeom prst="ellipse">
            <a:avLst/>
          </a:prstGeom>
          <a:solidFill>
            <a:schemeClr val="accent5"/>
          </a:solidFill>
          <a:ln w="12700">
            <a:solidFill>
              <a:schemeClr val="accent5"/>
            </a:solidFill>
            <a:prstDash val="solid"/>
          </a:ln>
        </p:spPr>
      </p:sp>
      <p:sp>
        <p:nvSpPr>
          <p:cNvPr id="17" name="Class text 4"/>
          <p:cNvSpPr txBox="1"/>
          <p:nvPr/>
        </p:nvSpPr>
        <p:spPr>
          <a:xfrm>
            <a:off x="5943600" y="3191256"/>
            <a:ext cx="2697480" cy="457200"/>
          </a:xfrm>
          <a:prstGeom prst="rect">
            <a:avLst/>
          </a:prstGeom>
          <a:noFill/>
          <a:ln/>
        </p:spPr>
        <p:txBody>
          <a:bodyPr wrap="square" lIns="0" tIns="0" rIns="0" bIns="0" rtlCol="0" anchor="ctr"/>
          <a:lstStyle/>
          <a:p>
            <a:pPr indent="0" marL="0">
              <a:buNone/>
            </a:pPr>
            <a:r>
              <a:rPr lang="en-US" sz="1400" b="1" dirty="0">
                <a:solidFill>
                  <a:schemeClr val="tx2"/>
                </a:solidFill>
              </a:rPr>
              <a:t>Noisy recording</a:t>
            </a:r>
            <a:endParaRPr lang="en-US" sz="1400" dirty="0"/>
          </a:p>
          <a:p>
            <a:pPr indent="0" marL="0">
              <a:buNone/>
            </a:pPr>
            <a:r>
              <a:rPr lang="en-US" sz="1100" dirty="0">
                <a:solidFill>
                  <a:schemeClr val="accent5"/>
                </a:solidFill>
              </a:rPr>
              <a:t>Shown as inconclusive</a:t>
            </a:r>
            <a:endParaRPr lang="en-US" sz="1400" dirty="0"/>
          </a:p>
        </p:txBody>
      </p:sp>
      <p:sp>
        <p:nvSpPr>
          <p:cNvPr id="18" name="Confidence note"/>
          <p:cNvSpPr txBox="1"/>
          <p:nvPr/>
        </p:nvSpPr>
        <p:spPr>
          <a:xfrm>
            <a:off x="5577840" y="3749040"/>
            <a:ext cx="3108960" cy="502920"/>
          </a:xfrm>
          <a:prstGeom prst="rect">
            <a:avLst/>
          </a:prstGeom>
          <a:noFill/>
          <a:ln/>
        </p:spPr>
        <p:txBody>
          <a:bodyPr wrap="square" lIns="0" tIns="0" rIns="0" bIns="0" rtlCol="0" anchor="t"/>
          <a:lstStyle/>
          <a:p>
            <a:pPr indent="0" marL="0">
              <a:buNone/>
            </a:pPr>
            <a:r>
              <a:rPr lang="en-US" sz="1200" dirty="0">
                <a:solidFill>
                  <a:schemeClr val="tx1"/>
                </a:solidFill>
              </a:rPr>
              <a:t>Below 50% confidence is also inconclusive. Unclear samples are never reported as “no AFib”.</a:t>
            </a:r>
            <a:endParaRPr lang="en-US" sz="1200" dirty="0"/>
          </a:p>
        </p:txBody>
      </p:sp>
      <p:sp>
        <p:nvSpPr>
          <p:cNvPr id="19" name="Stat value 1"/>
          <p:cNvSpPr txBox="1"/>
          <p:nvPr/>
        </p:nvSpPr>
        <p:spPr>
          <a:xfrm>
            <a:off x="457200" y="3749040"/>
            <a:ext cx="1554480" cy="457200"/>
          </a:xfrm>
          <a:prstGeom prst="rect">
            <a:avLst/>
          </a:prstGeom>
          <a:noFill/>
          <a:ln/>
        </p:spPr>
        <p:txBody>
          <a:bodyPr wrap="square" lIns="0" tIns="0" rIns="0" bIns="0" rtlCol="0" anchor="ctr"/>
          <a:lstStyle/>
          <a:p>
            <a:pPr indent="0" marL="0">
              <a:buNone/>
            </a:pPr>
            <a:r>
              <a:rPr lang="en-US" sz="2800" b="1" dirty="0">
                <a:solidFill>
                  <a:schemeClr val="accent1"/>
                </a:solidFill>
              </a:rPr>
              <a:t>73.6%</a:t>
            </a:r>
            <a:endParaRPr lang="en-US" sz="2800" dirty="0"/>
          </a:p>
        </p:txBody>
      </p:sp>
      <p:sp>
        <p:nvSpPr>
          <p:cNvPr id="20" name="Stat label 1"/>
          <p:cNvSpPr txBox="1"/>
          <p:nvPr/>
        </p:nvSpPr>
        <p:spPr>
          <a:xfrm>
            <a:off x="457200" y="4187952"/>
            <a:ext cx="1554480" cy="256032"/>
          </a:xfrm>
          <a:prstGeom prst="rect">
            <a:avLst/>
          </a:prstGeom>
          <a:noFill/>
          <a:ln/>
        </p:spPr>
        <p:txBody>
          <a:bodyPr wrap="square" lIns="0" tIns="0" rIns="0" bIns="0" rtlCol="0" anchor="ctr"/>
          <a:lstStyle/>
          <a:p>
            <a:pPr indent="0" marL="0">
              <a:buNone/>
            </a:pPr>
            <a:r>
              <a:rPr lang="en-US" sz="1200" dirty="0">
                <a:solidFill>
                  <a:schemeClr val="tx1"/>
                </a:solidFill>
              </a:rPr>
              <a:t>four-class accuracy</a:t>
            </a:r>
            <a:endParaRPr lang="en-US" sz="1200" dirty="0"/>
          </a:p>
        </p:txBody>
      </p:sp>
      <p:sp>
        <p:nvSpPr>
          <p:cNvPr id="21" name="Stat value 2"/>
          <p:cNvSpPr txBox="1"/>
          <p:nvPr/>
        </p:nvSpPr>
        <p:spPr>
          <a:xfrm>
            <a:off x="2103120" y="3749040"/>
            <a:ext cx="1554480" cy="457200"/>
          </a:xfrm>
          <a:prstGeom prst="rect">
            <a:avLst/>
          </a:prstGeom>
          <a:noFill/>
          <a:ln/>
        </p:spPr>
        <p:txBody>
          <a:bodyPr wrap="square" lIns="0" tIns="0" rIns="0" bIns="0" rtlCol="0" anchor="ctr"/>
          <a:lstStyle/>
          <a:p>
            <a:pPr indent="0" marL="0">
              <a:buNone/>
            </a:pPr>
            <a:r>
              <a:rPr lang="en-US" sz="2800" b="1" dirty="0">
                <a:solidFill>
                  <a:schemeClr val="accent1"/>
                </a:solidFill>
              </a:rPr>
              <a:t>0.62</a:t>
            </a:r>
            <a:endParaRPr lang="en-US" sz="2800" dirty="0"/>
          </a:p>
        </p:txBody>
      </p:sp>
      <p:sp>
        <p:nvSpPr>
          <p:cNvPr id="22" name="Stat label 2"/>
          <p:cNvSpPr txBox="1"/>
          <p:nvPr/>
        </p:nvSpPr>
        <p:spPr>
          <a:xfrm>
            <a:off x="2103120" y="4187952"/>
            <a:ext cx="1554480" cy="256032"/>
          </a:xfrm>
          <a:prstGeom prst="rect">
            <a:avLst/>
          </a:prstGeom>
          <a:noFill/>
          <a:ln/>
        </p:spPr>
        <p:txBody>
          <a:bodyPr wrap="square" lIns="0" tIns="0" rIns="0" bIns="0" rtlCol="0" anchor="ctr"/>
          <a:lstStyle/>
          <a:p>
            <a:pPr indent="0" marL="0">
              <a:buNone/>
            </a:pPr>
            <a:r>
              <a:rPr lang="en-US" sz="1200" dirty="0">
                <a:solidFill>
                  <a:schemeClr val="tx1"/>
                </a:solidFill>
              </a:rPr>
              <a:t>macro F1</a:t>
            </a:r>
            <a:endParaRPr lang="en-US" sz="1200" dirty="0"/>
          </a:p>
        </p:txBody>
      </p:sp>
      <p:sp>
        <p:nvSpPr>
          <p:cNvPr id="23" name="Stat value 3"/>
          <p:cNvSpPr txBox="1"/>
          <p:nvPr/>
        </p:nvSpPr>
        <p:spPr>
          <a:xfrm>
            <a:off x="3749040" y="3749040"/>
            <a:ext cx="1554480" cy="457200"/>
          </a:xfrm>
          <a:prstGeom prst="rect">
            <a:avLst/>
          </a:prstGeom>
          <a:noFill/>
          <a:ln/>
        </p:spPr>
        <p:txBody>
          <a:bodyPr wrap="square" lIns="0" tIns="0" rIns="0" bIns="0" rtlCol="0" anchor="ctr"/>
          <a:lstStyle/>
          <a:p>
            <a:pPr indent="0" marL="0">
              <a:buNone/>
            </a:pPr>
            <a:r>
              <a:rPr lang="en-US" sz="2800" b="1" dirty="0">
                <a:solidFill>
                  <a:schemeClr val="accent1"/>
                </a:solidFill>
              </a:rPr>
              <a:t>74.1%</a:t>
            </a:r>
            <a:endParaRPr lang="en-US" sz="2800" dirty="0"/>
          </a:p>
        </p:txBody>
      </p:sp>
      <p:sp>
        <p:nvSpPr>
          <p:cNvPr id="24" name="Stat label 3"/>
          <p:cNvSpPr txBox="1"/>
          <p:nvPr/>
        </p:nvSpPr>
        <p:spPr>
          <a:xfrm>
            <a:off x="3749040" y="4187952"/>
            <a:ext cx="1554480" cy="256032"/>
          </a:xfrm>
          <a:prstGeom prst="rect">
            <a:avLst/>
          </a:prstGeom>
          <a:noFill/>
          <a:ln/>
        </p:spPr>
        <p:txBody>
          <a:bodyPr wrap="square" lIns="0" tIns="0" rIns="0" bIns="0" rtlCol="0" anchor="ctr"/>
          <a:lstStyle/>
          <a:p>
            <a:pPr indent="0" marL="0">
              <a:buNone/>
            </a:pPr>
            <a:r>
              <a:rPr lang="en-US" sz="1200" dirty="0">
                <a:solidFill>
                  <a:schemeClr val="tx1"/>
                </a:solidFill>
              </a:rPr>
              <a:t>AFib sensitivity</a:t>
            </a:r>
            <a:endParaRPr lang="en-US" sz="1200" dirty="0"/>
          </a:p>
        </p:txBody>
      </p:sp>
      <p:sp>
        <p:nvSpPr>
          <p:cNvPr id="25" name="Stats caption"/>
          <p:cNvSpPr txBox="1"/>
          <p:nvPr/>
        </p:nvSpPr>
        <p:spPr>
          <a:xfrm>
            <a:off x="457200" y="4480560"/>
            <a:ext cx="8229600" cy="237744"/>
          </a:xfrm>
          <a:prstGeom prst="rect">
            <a:avLst/>
          </a:prstGeom>
          <a:noFill/>
          <a:ln/>
        </p:spPr>
        <p:txBody>
          <a:bodyPr wrap="square" lIns="0" tIns="0" rIns="0" bIns="0" rtlCol="0" anchor="ctr"/>
          <a:lstStyle/>
          <a:p>
            <a:pPr indent="0" marL="0">
              <a:buNone/>
            </a:pPr>
            <a:r>
              <a:rPr lang="en-US" sz="1100" i="1" dirty="0">
                <a:solidFill>
                  <a:schemeClr val="accent5"/>
                </a:solidFill>
              </a:rPr>
              <a:t>PhysioNet 2017 public recordings, random holdout. Dataset-only, not clinical performance.</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From watch to clinician review</a:t>
            </a:r>
            <a:endParaRPr lang="en-US" sz="3400" dirty="0"/>
          </a:p>
        </p:txBody>
      </p:sp>
      <p:sp>
        <p:nvSpPr>
          <p:cNvPr id="3" name="Queue card"/>
          <p:cNvSpPr/>
          <p:nvPr/>
        </p:nvSpPr>
        <p:spPr>
          <a:xfrm>
            <a:off x="457200" y="1188720"/>
            <a:ext cx="4846320" cy="3063240"/>
          </a:xfrm>
          <a:prstGeom prst="roundRect">
            <a:avLst>
              <a:gd name="adj" fmla="val 3582"/>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eue card outline"/>
          <p:cNvSpPr/>
          <p:nvPr/>
        </p:nvSpPr>
        <p:spPr>
          <a:xfrm>
            <a:off x="457200" y="1188720"/>
            <a:ext cx="4846320" cy="3063240"/>
          </a:xfrm>
          <a:prstGeom prst="roundRect">
            <a:avLst>
              <a:gd name="adj" fmla="val 3582"/>
            </a:avLst>
          </a:prstGeom>
          <a:solidFill>
            <a:schemeClr val="bg1">
              <a:alpha val="0"/>
            </a:schemeClr>
          </a:solidFill>
          <a:ln w="12700">
            <a:solidFill>
              <a:srgbClr val="CFE3DC"/>
            </a:solidFill>
            <a:prstDash val="solid"/>
          </a:ln>
        </p:spPr>
      </p:sp>
      <p:sp>
        <p:nvSpPr>
          <p:cNvPr id="5" name="Queue kicker"/>
          <p:cNvSpPr txBox="1"/>
          <p:nvPr/>
        </p:nvSpPr>
        <p:spPr>
          <a:xfrm>
            <a:off x="685800" y="1298448"/>
            <a:ext cx="4389120" cy="228600"/>
          </a:xfrm>
          <a:prstGeom prst="rect">
            <a:avLst/>
          </a:prstGeom>
          <a:noFill/>
          <a:ln/>
        </p:spPr>
        <p:txBody>
          <a:bodyPr wrap="square" lIns="0" tIns="0" rIns="0" bIns="0" rtlCol="0" anchor="ctr"/>
          <a:lstStyle/>
          <a:p>
            <a:pPr indent="0" marL="0">
              <a:buNone/>
            </a:pPr>
            <a:r>
              <a:rPr lang="en-US" sz="1000" b="1" dirty="0">
                <a:solidFill>
                  <a:schemeClr val="accent3"/>
                </a:solidFill>
              </a:rPr>
              <a:t>REVIEW SUGGESTED  |  SCRIPTED DEMO WATCH</a:t>
            </a:r>
            <a:endParaRPr lang="en-US" sz="1000" dirty="0"/>
          </a:p>
        </p:txBody>
      </p:sp>
      <p:sp>
        <p:nvSpPr>
          <p:cNvPr id="6" name="Queue patient"/>
          <p:cNvSpPr txBox="1"/>
          <p:nvPr/>
        </p:nvSpPr>
        <p:spPr>
          <a:xfrm>
            <a:off x="685800" y="1554480"/>
            <a:ext cx="2743200" cy="320040"/>
          </a:xfrm>
          <a:prstGeom prst="rect">
            <a:avLst/>
          </a:prstGeom>
          <a:noFill/>
          <a:ln/>
        </p:spPr>
        <p:txBody>
          <a:bodyPr wrap="square" lIns="0" tIns="0" rIns="0" bIns="0" rtlCol="0" anchor="ctr"/>
          <a:lstStyle/>
          <a:p>
            <a:pPr indent="0" marL="0">
              <a:buNone/>
            </a:pPr>
            <a:r>
              <a:rPr lang="en-US" sz="1800" b="1" dirty="0">
                <a:solidFill>
                  <a:schemeClr val="tx2"/>
                </a:solidFill>
              </a:rPr>
              <a:t>Patient #123</a:t>
            </a:r>
            <a:endParaRPr lang="en-US" sz="1800" dirty="0"/>
          </a:p>
        </p:txBody>
      </p:sp>
      <p:sp>
        <p:nvSpPr>
          <p:cNvPr id="7" name="Queue profile"/>
          <p:cNvSpPr txBox="1"/>
          <p:nvPr/>
        </p:nvSpPr>
        <p:spPr>
          <a:xfrm>
            <a:off x="685800" y="1874520"/>
            <a:ext cx="3657600" cy="256032"/>
          </a:xfrm>
          <a:prstGeom prst="rect">
            <a:avLst/>
          </a:prstGeom>
          <a:noFill/>
          <a:ln/>
        </p:spPr>
        <p:txBody>
          <a:bodyPr wrap="square" lIns="0" tIns="0" rIns="0" bIns="0" rtlCol="0" anchor="ctr"/>
          <a:lstStyle/>
          <a:p>
            <a:pPr indent="0" marL="0">
              <a:buNone/>
            </a:pPr>
            <a:r>
              <a:rPr lang="en-US" sz="1200" dirty="0">
                <a:solidFill>
                  <a:schemeClr val="accent5"/>
                </a:solidFill>
              </a:rPr>
              <a:t>68 years, female, synthetic profile</a:t>
            </a:r>
            <a:endParaRPr lang="en-US" sz="1200" dirty="0"/>
          </a:p>
        </p:txBody>
      </p:sp>
      <p:sp>
        <p:nvSpPr>
          <p:cNvPr id="8" name="Change name 1"/>
          <p:cNvSpPr txBox="1"/>
          <p:nvPr/>
        </p:nvSpPr>
        <p:spPr>
          <a:xfrm>
            <a:off x="685800" y="2212848"/>
            <a:ext cx="1280160" cy="292608"/>
          </a:xfrm>
          <a:prstGeom prst="rect">
            <a:avLst/>
          </a:prstGeom>
          <a:noFill/>
          <a:ln/>
        </p:spPr>
        <p:txBody>
          <a:bodyPr wrap="square" lIns="0" tIns="0" rIns="0" bIns="0" rtlCol="0" anchor="ctr"/>
          <a:lstStyle/>
          <a:p>
            <a:pPr indent="0" marL="0">
              <a:buNone/>
            </a:pPr>
            <a:r>
              <a:rPr lang="en-US" sz="1400" b="1" dirty="0">
                <a:solidFill>
                  <a:schemeClr val="tx2"/>
                </a:solidFill>
              </a:rPr>
              <a:t>Steps</a:t>
            </a:r>
            <a:endParaRPr lang="en-US" sz="1400" dirty="0"/>
          </a:p>
        </p:txBody>
      </p:sp>
      <p:sp>
        <p:nvSpPr>
          <p:cNvPr id="9" name="Change value 1"/>
          <p:cNvSpPr txBox="1"/>
          <p:nvPr/>
        </p:nvSpPr>
        <p:spPr>
          <a:xfrm>
            <a:off x="1965960" y="2212848"/>
            <a:ext cx="2011680" cy="292608"/>
          </a:xfrm>
          <a:prstGeom prst="rect">
            <a:avLst/>
          </a:prstGeom>
          <a:noFill/>
          <a:ln/>
        </p:spPr>
        <p:txBody>
          <a:bodyPr wrap="square" lIns="0" tIns="0" rIns="0" bIns="0" rtlCol="0" anchor="ctr"/>
          <a:lstStyle/>
          <a:p>
            <a:pPr indent="0" marL="0">
              <a:buNone/>
            </a:pPr>
            <a:r>
              <a:rPr lang="en-US" sz="1400" dirty="0">
                <a:solidFill>
                  <a:schemeClr val="tx1"/>
                </a:solidFill>
              </a:rPr>
              <a:t>6,000 to 3,840</a:t>
            </a:r>
            <a:endParaRPr lang="en-US" sz="1400" dirty="0"/>
          </a:p>
        </p:txBody>
      </p:sp>
      <p:sp>
        <p:nvSpPr>
          <p:cNvPr id="10" name="Change delta 1"/>
          <p:cNvSpPr txBox="1"/>
          <p:nvPr/>
        </p:nvSpPr>
        <p:spPr>
          <a:xfrm>
            <a:off x="4023360" y="2212848"/>
            <a:ext cx="1051560" cy="292608"/>
          </a:xfrm>
          <a:prstGeom prst="rect">
            <a:avLst/>
          </a:prstGeom>
          <a:noFill/>
          <a:ln/>
        </p:spPr>
        <p:txBody>
          <a:bodyPr wrap="square" lIns="0" tIns="0" rIns="0" bIns="0" rtlCol="0" anchor="ctr"/>
          <a:lstStyle/>
          <a:p>
            <a:pPr algn="r" indent="0" marL="0">
              <a:buNone/>
            </a:pPr>
            <a:r>
              <a:rPr lang="en-US" sz="1400" b="1" dirty="0">
                <a:solidFill>
                  <a:schemeClr val="accent4"/>
                </a:solidFill>
              </a:rPr>
              <a:t>-36%</a:t>
            </a:r>
            <a:endParaRPr lang="en-US" sz="1400" dirty="0"/>
          </a:p>
        </p:txBody>
      </p:sp>
      <p:sp>
        <p:nvSpPr>
          <p:cNvPr id="11" name="Change name 2"/>
          <p:cNvSpPr txBox="1"/>
          <p:nvPr/>
        </p:nvSpPr>
        <p:spPr>
          <a:xfrm>
            <a:off x="685800" y="2542032"/>
            <a:ext cx="1280160" cy="292608"/>
          </a:xfrm>
          <a:prstGeom prst="rect">
            <a:avLst/>
          </a:prstGeom>
          <a:noFill/>
          <a:ln/>
        </p:spPr>
        <p:txBody>
          <a:bodyPr wrap="square" lIns="0" tIns="0" rIns="0" bIns="0" rtlCol="0" anchor="ctr"/>
          <a:lstStyle/>
          <a:p>
            <a:pPr indent="0" marL="0">
              <a:buNone/>
            </a:pPr>
            <a:r>
              <a:rPr lang="en-US" sz="1400" b="1" dirty="0">
                <a:solidFill>
                  <a:schemeClr val="tx2"/>
                </a:solidFill>
              </a:rPr>
              <a:t>Sleep</a:t>
            </a:r>
            <a:endParaRPr lang="en-US" sz="1400" dirty="0"/>
          </a:p>
        </p:txBody>
      </p:sp>
      <p:sp>
        <p:nvSpPr>
          <p:cNvPr id="12" name="Change value 2"/>
          <p:cNvSpPr txBox="1"/>
          <p:nvPr/>
        </p:nvSpPr>
        <p:spPr>
          <a:xfrm>
            <a:off x="1965960" y="2542032"/>
            <a:ext cx="2011680" cy="292608"/>
          </a:xfrm>
          <a:prstGeom prst="rect">
            <a:avLst/>
          </a:prstGeom>
          <a:noFill/>
          <a:ln/>
        </p:spPr>
        <p:txBody>
          <a:bodyPr wrap="square" lIns="0" tIns="0" rIns="0" bIns="0" rtlCol="0" anchor="ctr"/>
          <a:lstStyle/>
          <a:p>
            <a:pPr indent="0" marL="0">
              <a:buNone/>
            </a:pPr>
            <a:r>
              <a:rPr lang="en-US" sz="1400" dirty="0">
                <a:solidFill>
                  <a:schemeClr val="tx1"/>
                </a:solidFill>
              </a:rPr>
              <a:t>7.0 h to 5.3 h</a:t>
            </a:r>
            <a:endParaRPr lang="en-US" sz="1400" dirty="0"/>
          </a:p>
        </p:txBody>
      </p:sp>
      <p:sp>
        <p:nvSpPr>
          <p:cNvPr id="13" name="Change delta 2"/>
          <p:cNvSpPr txBox="1"/>
          <p:nvPr/>
        </p:nvSpPr>
        <p:spPr>
          <a:xfrm>
            <a:off x="4023360" y="2542032"/>
            <a:ext cx="1051560" cy="292608"/>
          </a:xfrm>
          <a:prstGeom prst="rect">
            <a:avLst/>
          </a:prstGeom>
          <a:noFill/>
          <a:ln/>
        </p:spPr>
        <p:txBody>
          <a:bodyPr wrap="square" lIns="0" tIns="0" rIns="0" bIns="0" rtlCol="0" anchor="ctr"/>
          <a:lstStyle/>
          <a:p>
            <a:pPr algn="r" indent="0" marL="0">
              <a:buNone/>
            </a:pPr>
            <a:r>
              <a:rPr lang="en-US" sz="1400" b="1" dirty="0">
                <a:solidFill>
                  <a:schemeClr val="accent4"/>
                </a:solidFill>
              </a:rPr>
              <a:t>-24%</a:t>
            </a:r>
            <a:endParaRPr lang="en-US" sz="1400" dirty="0"/>
          </a:p>
        </p:txBody>
      </p:sp>
      <p:sp>
        <p:nvSpPr>
          <p:cNvPr id="14" name="Change name 3"/>
          <p:cNvSpPr txBox="1"/>
          <p:nvPr/>
        </p:nvSpPr>
        <p:spPr>
          <a:xfrm>
            <a:off x="685800" y="2871216"/>
            <a:ext cx="1280160" cy="292608"/>
          </a:xfrm>
          <a:prstGeom prst="rect">
            <a:avLst/>
          </a:prstGeom>
          <a:noFill/>
          <a:ln/>
        </p:spPr>
        <p:txBody>
          <a:bodyPr wrap="square" lIns="0" tIns="0" rIns="0" bIns="0" rtlCol="0" anchor="ctr"/>
          <a:lstStyle/>
          <a:p>
            <a:pPr indent="0" marL="0">
              <a:buNone/>
            </a:pPr>
            <a:r>
              <a:rPr lang="en-US" sz="1400" b="1" dirty="0">
                <a:solidFill>
                  <a:schemeClr val="tx2"/>
                </a:solidFill>
              </a:rPr>
              <a:t>Resting HR</a:t>
            </a:r>
            <a:endParaRPr lang="en-US" sz="1400" dirty="0"/>
          </a:p>
        </p:txBody>
      </p:sp>
      <p:sp>
        <p:nvSpPr>
          <p:cNvPr id="15" name="Change value 3"/>
          <p:cNvSpPr txBox="1"/>
          <p:nvPr/>
        </p:nvSpPr>
        <p:spPr>
          <a:xfrm>
            <a:off x="1965960" y="2871216"/>
            <a:ext cx="2011680" cy="292608"/>
          </a:xfrm>
          <a:prstGeom prst="rect">
            <a:avLst/>
          </a:prstGeom>
          <a:noFill/>
          <a:ln/>
        </p:spPr>
        <p:txBody>
          <a:bodyPr wrap="square" lIns="0" tIns="0" rIns="0" bIns="0" rtlCol="0" anchor="ctr"/>
          <a:lstStyle/>
          <a:p>
            <a:pPr indent="0" marL="0">
              <a:buNone/>
            </a:pPr>
            <a:r>
              <a:rPr lang="en-US" sz="1400" dirty="0">
                <a:solidFill>
                  <a:schemeClr val="tx1"/>
                </a:solidFill>
              </a:rPr>
              <a:t>70 to 81 bpm</a:t>
            </a:r>
            <a:endParaRPr lang="en-US" sz="1400" dirty="0"/>
          </a:p>
        </p:txBody>
      </p:sp>
      <p:sp>
        <p:nvSpPr>
          <p:cNvPr id="16" name="Change delta 3"/>
          <p:cNvSpPr txBox="1"/>
          <p:nvPr/>
        </p:nvSpPr>
        <p:spPr>
          <a:xfrm>
            <a:off x="4023360" y="2871216"/>
            <a:ext cx="1051560" cy="292608"/>
          </a:xfrm>
          <a:prstGeom prst="rect">
            <a:avLst/>
          </a:prstGeom>
          <a:noFill/>
          <a:ln/>
        </p:spPr>
        <p:txBody>
          <a:bodyPr wrap="square" lIns="0" tIns="0" rIns="0" bIns="0" rtlCol="0" anchor="ctr"/>
          <a:lstStyle/>
          <a:p>
            <a:pPr algn="r" indent="0" marL="0">
              <a:buNone/>
            </a:pPr>
            <a:r>
              <a:rPr lang="en-US" sz="1400" b="1" dirty="0">
                <a:solidFill>
                  <a:schemeClr val="accent4"/>
                </a:solidFill>
              </a:rPr>
              <a:t>+16%</a:t>
            </a:r>
            <a:endParaRPr lang="en-US" sz="1400" dirty="0"/>
          </a:p>
        </p:txBody>
      </p:sp>
      <p:sp>
        <p:nvSpPr>
          <p:cNvPr id="17" name="Change name 4"/>
          <p:cNvSpPr txBox="1"/>
          <p:nvPr/>
        </p:nvSpPr>
        <p:spPr>
          <a:xfrm>
            <a:off x="685800" y="3200400"/>
            <a:ext cx="1280160" cy="292608"/>
          </a:xfrm>
          <a:prstGeom prst="rect">
            <a:avLst/>
          </a:prstGeom>
          <a:noFill/>
          <a:ln/>
        </p:spPr>
        <p:txBody>
          <a:bodyPr wrap="square" lIns="0" tIns="0" rIns="0" bIns="0" rtlCol="0" anchor="ctr"/>
          <a:lstStyle/>
          <a:p>
            <a:pPr indent="0" marL="0">
              <a:buNone/>
            </a:pPr>
            <a:r>
              <a:rPr lang="en-US" sz="1400" b="1" dirty="0">
                <a:solidFill>
                  <a:schemeClr val="tx2"/>
                </a:solidFill>
              </a:rPr>
              <a:t>HRV</a:t>
            </a:r>
            <a:endParaRPr lang="en-US" sz="1400" dirty="0"/>
          </a:p>
        </p:txBody>
      </p:sp>
      <p:sp>
        <p:nvSpPr>
          <p:cNvPr id="18" name="Change value 4"/>
          <p:cNvSpPr txBox="1"/>
          <p:nvPr/>
        </p:nvSpPr>
        <p:spPr>
          <a:xfrm>
            <a:off x="1965960" y="3200400"/>
            <a:ext cx="2011680" cy="292608"/>
          </a:xfrm>
          <a:prstGeom prst="rect">
            <a:avLst/>
          </a:prstGeom>
          <a:noFill/>
          <a:ln/>
        </p:spPr>
        <p:txBody>
          <a:bodyPr wrap="square" lIns="0" tIns="0" rIns="0" bIns="0" rtlCol="0" anchor="ctr"/>
          <a:lstStyle/>
          <a:p>
            <a:pPr indent="0" marL="0">
              <a:buNone/>
            </a:pPr>
            <a:r>
              <a:rPr lang="en-US" sz="1400" dirty="0">
                <a:solidFill>
                  <a:schemeClr val="tx1"/>
                </a:solidFill>
              </a:rPr>
              <a:t>50 to 35 ms</a:t>
            </a:r>
            <a:endParaRPr lang="en-US" sz="1400" dirty="0"/>
          </a:p>
        </p:txBody>
      </p:sp>
      <p:sp>
        <p:nvSpPr>
          <p:cNvPr id="19" name="Change delta 4"/>
          <p:cNvSpPr txBox="1"/>
          <p:nvPr/>
        </p:nvSpPr>
        <p:spPr>
          <a:xfrm>
            <a:off x="4023360" y="3200400"/>
            <a:ext cx="1051560" cy="292608"/>
          </a:xfrm>
          <a:prstGeom prst="rect">
            <a:avLst/>
          </a:prstGeom>
          <a:noFill/>
          <a:ln/>
        </p:spPr>
        <p:txBody>
          <a:bodyPr wrap="square" lIns="0" tIns="0" rIns="0" bIns="0" rtlCol="0" anchor="ctr"/>
          <a:lstStyle/>
          <a:p>
            <a:pPr algn="r" indent="0" marL="0">
              <a:buNone/>
            </a:pPr>
            <a:r>
              <a:rPr lang="en-US" sz="1400" b="1" dirty="0">
                <a:solidFill>
                  <a:schemeClr val="accent4"/>
                </a:solidFill>
              </a:rPr>
              <a:t>-30%</a:t>
            </a:r>
            <a:endParaRPr lang="en-US" sz="1400" dirty="0"/>
          </a:p>
        </p:txBody>
      </p:sp>
      <p:sp>
        <p:nvSpPr>
          <p:cNvPr id="20" name="Queue context"/>
          <p:cNvSpPr txBox="1"/>
          <p:nvPr/>
        </p:nvSpPr>
        <p:spPr>
          <a:xfrm>
            <a:off x="685800" y="3566160"/>
            <a:ext cx="4389120" cy="256032"/>
          </a:xfrm>
          <a:prstGeom prst="rect">
            <a:avLst/>
          </a:prstGeom>
          <a:noFill/>
          <a:ln/>
        </p:spPr>
        <p:txBody>
          <a:bodyPr wrap="square" lIns="0" tIns="0" rIns="0" bIns="0" rtlCol="0" anchor="ctr"/>
          <a:lstStyle/>
          <a:p>
            <a:pPr indent="0" marL="0">
              <a:buNone/>
            </a:pPr>
            <a:r>
              <a:rPr lang="en-US" sz="1200" dirty="0">
                <a:solidFill>
                  <a:schemeClr val="accent5"/>
                </a:solidFill>
              </a:rPr>
              <a:t>Context used: age 65+, hypertension in profile</a:t>
            </a:r>
            <a:endParaRPr lang="en-US" sz="1200" dirty="0"/>
          </a:p>
        </p:txBody>
      </p:sp>
      <p:sp>
        <p:nvSpPr>
          <p:cNvPr id="21" name="Queue link"/>
          <p:cNvSpPr txBox="1"/>
          <p:nvPr/>
        </p:nvSpPr>
        <p:spPr>
          <a:xfrm>
            <a:off x="685800" y="3858768"/>
            <a:ext cx="1645920" cy="274320"/>
          </a:xfrm>
          <a:prstGeom prst="rect">
            <a:avLst/>
          </a:prstGeom>
          <a:noFill/>
          <a:ln/>
        </p:spPr>
        <p:txBody>
          <a:bodyPr wrap="square" lIns="0" tIns="0" rIns="0" bIns="0" rtlCol="0" anchor="ctr"/>
          <a:lstStyle/>
          <a:p>
            <a:pPr indent="0" marL="0">
              <a:buNone/>
            </a:pPr>
            <a:r>
              <a:rPr lang="en-US" sz="1300" b="1" dirty="0">
                <a:solidFill>
                  <a:schemeClr val="accent1"/>
                </a:solidFill>
              </a:rPr>
              <a:t>Open profile →</a:t>
            </a:r>
            <a:endParaRPr lang="en-US" sz="1300" dirty="0"/>
          </a:p>
        </p:txBody>
      </p:sp>
      <p:sp>
        <p:nvSpPr>
          <p:cNvPr id="22" name="Queue button"/>
          <p:cNvSpPr/>
          <p:nvPr/>
        </p:nvSpPr>
        <p:spPr>
          <a:xfrm>
            <a:off x="3657600" y="3822192"/>
            <a:ext cx="1417320" cy="329184"/>
          </a:xfrm>
          <a:prstGeom prst="roundRect">
            <a:avLst>
              <a:gd name="adj" fmla="val 50000"/>
            </a:avLst>
          </a:prstGeom>
          <a:solidFill>
            <a:schemeClr val="accent1"/>
          </a:solidFill>
          <a:ln w="12700">
            <a:solidFill>
              <a:schemeClr val="accent1"/>
            </a:solidFill>
            <a:prstDash val="solid"/>
          </a:ln>
        </p:spPr>
      </p:sp>
      <p:sp>
        <p:nvSpPr>
          <p:cNvPr id="23" name="Queue button text"/>
          <p:cNvSpPr txBox="1"/>
          <p:nvPr/>
        </p:nvSpPr>
        <p:spPr>
          <a:xfrm>
            <a:off x="3657600" y="3822192"/>
            <a:ext cx="1417320" cy="329184"/>
          </a:xfrm>
          <a:prstGeom prst="rect">
            <a:avLst/>
          </a:prstGeom>
          <a:noFill/>
          <a:ln/>
        </p:spPr>
        <p:txBody>
          <a:bodyPr wrap="square" lIns="0" tIns="0" rIns="0" bIns="0" rtlCol="0" anchor="ctr"/>
          <a:lstStyle/>
          <a:p>
            <a:pPr algn="ctr" indent="0" marL="0">
              <a:buNone/>
            </a:pPr>
            <a:r>
              <a:rPr lang="en-US" sz="1200" b="1" dirty="0">
                <a:solidFill>
                  <a:schemeClr val="bg1"/>
                </a:solidFill>
              </a:rPr>
              <a:t>Mark reviewed</a:t>
            </a:r>
            <a:endParaRPr lang="en-US" sz="1200" dirty="0"/>
          </a:p>
        </p:txBody>
      </p:sp>
      <p:sp>
        <p:nvSpPr>
          <p:cNvPr id="24" name="Queue caption"/>
          <p:cNvSpPr txBox="1"/>
          <p:nvPr/>
        </p:nvSpPr>
        <p:spPr>
          <a:xfrm>
            <a:off x="457200" y="4343400"/>
            <a:ext cx="4846320" cy="256032"/>
          </a:xfrm>
          <a:prstGeom prst="rect">
            <a:avLst/>
          </a:prstGeom>
          <a:noFill/>
          <a:ln/>
        </p:spPr>
        <p:txBody>
          <a:bodyPr wrap="square" lIns="0" tIns="0" rIns="0" bIns="0" rtlCol="0" anchor="ctr"/>
          <a:lstStyle/>
          <a:p>
            <a:pPr indent="0" marL="0">
              <a:buNone/>
            </a:pPr>
            <a:r>
              <a:rPr lang="en-US" sz="1100" i="1" dirty="0">
                <a:solidFill>
                  <a:schemeClr val="accent5"/>
                </a:solidFill>
              </a:rPr>
              <a:t>Simplified illustration of a review queue card</a:t>
            </a:r>
            <a:endParaRPr lang="en-US" sz="1100" dirty="0"/>
          </a:p>
        </p:txBody>
      </p:sp>
      <p:sp>
        <p:nvSpPr>
          <p:cNvPr id="25" name="Flow head"/>
          <p:cNvSpPr txBox="1"/>
          <p:nvPr/>
        </p:nvSpPr>
        <p:spPr>
          <a:xfrm>
            <a:off x="5669280" y="1188720"/>
            <a:ext cx="3017520" cy="320040"/>
          </a:xfrm>
          <a:prstGeom prst="rect">
            <a:avLst/>
          </a:prstGeom>
          <a:noFill/>
          <a:ln/>
        </p:spPr>
        <p:txBody>
          <a:bodyPr wrap="square" lIns="0" tIns="0" rIns="0" bIns="0" rtlCol="0" anchor="ctr"/>
          <a:lstStyle/>
          <a:p>
            <a:pPr indent="0" marL="0">
              <a:buNone/>
            </a:pPr>
            <a:r>
              <a:rPr lang="en-US" sz="2000" b="1" dirty="0">
                <a:solidFill>
                  <a:schemeClr val="tx2"/>
                </a:solidFill>
              </a:rPr>
              <a:t>How a review flows</a:t>
            </a:r>
            <a:endParaRPr lang="en-US" sz="2000" dirty="0"/>
          </a:p>
        </p:txBody>
      </p:sp>
      <p:sp>
        <p:nvSpPr>
          <p:cNvPr id="26" name="Step circle 1"/>
          <p:cNvSpPr/>
          <p:nvPr/>
        </p:nvSpPr>
        <p:spPr>
          <a:xfrm>
            <a:off x="5669280" y="1719072"/>
            <a:ext cx="420624" cy="420624"/>
          </a:xfrm>
          <a:prstGeom prst="ellipse">
            <a:avLst/>
          </a:prstGeom>
          <a:solidFill>
            <a:schemeClr val="accent1"/>
          </a:solidFill>
          <a:ln w="12700">
            <a:solidFill>
              <a:schemeClr val="accent1"/>
            </a:solidFill>
            <a:prstDash val="solid"/>
          </a:ln>
        </p:spPr>
      </p:sp>
      <p:sp>
        <p:nvSpPr>
          <p:cNvPr id="27" name="Step number 1"/>
          <p:cNvSpPr txBox="1"/>
          <p:nvPr/>
        </p:nvSpPr>
        <p:spPr>
          <a:xfrm>
            <a:off x="5669280" y="171907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8" name="Step text 1"/>
          <p:cNvSpPr txBox="1"/>
          <p:nvPr/>
        </p:nvSpPr>
        <p:spPr>
          <a:xfrm>
            <a:off x="6263640" y="1645920"/>
            <a:ext cx="2423160" cy="566928"/>
          </a:xfrm>
          <a:prstGeom prst="rect">
            <a:avLst/>
          </a:prstGeom>
          <a:noFill/>
          <a:ln/>
        </p:spPr>
        <p:txBody>
          <a:bodyPr wrap="square" lIns="0" tIns="0" rIns="0" bIns="0" rtlCol="0" anchor="ctr"/>
          <a:lstStyle/>
          <a:p>
            <a:pPr indent="0" marL="0">
              <a:buNone/>
            </a:pPr>
            <a:r>
              <a:rPr lang="en-US" sz="1400" dirty="0">
                <a:solidFill>
                  <a:schemeClr val="tx1"/>
                </a:solidFill>
              </a:rPr>
              <a:t>Watch rule triggers on wearable data</a:t>
            </a:r>
            <a:endParaRPr lang="en-US" sz="1400" dirty="0"/>
          </a:p>
        </p:txBody>
      </p:sp>
      <p:sp>
        <p:nvSpPr>
          <p:cNvPr id="29" name="Step circle 2"/>
          <p:cNvSpPr/>
          <p:nvPr/>
        </p:nvSpPr>
        <p:spPr>
          <a:xfrm>
            <a:off x="5669280" y="2377440"/>
            <a:ext cx="420624" cy="420624"/>
          </a:xfrm>
          <a:prstGeom prst="ellipse">
            <a:avLst/>
          </a:prstGeom>
          <a:solidFill>
            <a:schemeClr val="accent1"/>
          </a:solidFill>
          <a:ln w="12700">
            <a:solidFill>
              <a:schemeClr val="accent1"/>
            </a:solidFill>
            <a:prstDash val="solid"/>
          </a:ln>
        </p:spPr>
      </p:sp>
      <p:sp>
        <p:nvSpPr>
          <p:cNvPr id="30" name="Step number 2"/>
          <p:cNvSpPr txBox="1"/>
          <p:nvPr/>
        </p:nvSpPr>
        <p:spPr>
          <a:xfrm>
            <a:off x="5669280" y="23774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1" name="Step text 2"/>
          <p:cNvSpPr txBox="1"/>
          <p:nvPr/>
        </p:nvSpPr>
        <p:spPr>
          <a:xfrm>
            <a:off x="6263640" y="2304288"/>
            <a:ext cx="2423160" cy="566928"/>
          </a:xfrm>
          <a:prstGeom prst="rect">
            <a:avLst/>
          </a:prstGeom>
          <a:noFill/>
          <a:ln/>
        </p:spPr>
        <p:txBody>
          <a:bodyPr wrap="square" lIns="0" tIns="0" rIns="0" bIns="0" rtlCol="0" anchor="ctr"/>
          <a:lstStyle/>
          <a:p>
            <a:pPr indent="0" marL="0">
              <a:buNone/>
            </a:pPr>
            <a:r>
              <a:rPr lang="en-US" sz="1400" dirty="0">
                <a:solidFill>
                  <a:schemeClr val="tx1"/>
                </a:solidFill>
              </a:rPr>
              <a:t>Suggestion saved with the changes that caused it</a:t>
            </a:r>
            <a:endParaRPr lang="en-US" sz="1400" dirty="0"/>
          </a:p>
        </p:txBody>
      </p:sp>
      <p:sp>
        <p:nvSpPr>
          <p:cNvPr id="32" name="Step circle 3"/>
          <p:cNvSpPr/>
          <p:nvPr/>
        </p:nvSpPr>
        <p:spPr>
          <a:xfrm>
            <a:off x="5669280" y="3035808"/>
            <a:ext cx="420624" cy="420624"/>
          </a:xfrm>
          <a:prstGeom prst="ellipse">
            <a:avLst/>
          </a:prstGeom>
          <a:solidFill>
            <a:schemeClr val="accent1"/>
          </a:solidFill>
          <a:ln w="12700">
            <a:solidFill>
              <a:schemeClr val="accent1"/>
            </a:solidFill>
            <a:prstDash val="solid"/>
          </a:ln>
        </p:spPr>
      </p:sp>
      <p:sp>
        <p:nvSpPr>
          <p:cNvPr id="33" name="Step number 3"/>
          <p:cNvSpPr txBox="1"/>
          <p:nvPr/>
        </p:nvSpPr>
        <p:spPr>
          <a:xfrm>
            <a:off x="5669280" y="303580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4" name="Step text 3"/>
          <p:cNvSpPr txBox="1"/>
          <p:nvPr/>
        </p:nvSpPr>
        <p:spPr>
          <a:xfrm>
            <a:off x="6263640" y="2962656"/>
            <a:ext cx="2423160" cy="566928"/>
          </a:xfrm>
          <a:prstGeom prst="rect">
            <a:avLst/>
          </a:prstGeom>
          <a:noFill/>
          <a:ln/>
        </p:spPr>
        <p:txBody>
          <a:bodyPr wrap="square" lIns="0" tIns="0" rIns="0" bIns="0" rtlCol="0" anchor="ctr"/>
          <a:lstStyle/>
          <a:p>
            <a:pPr indent="0" marL="0">
              <a:buNone/>
            </a:pPr>
            <a:r>
              <a:rPr lang="en-US" sz="1400" dirty="0">
                <a:solidFill>
                  <a:schemeClr val="tx1"/>
                </a:solidFill>
              </a:rPr>
              <a:t>Clinician opens the profile and reviews it</a:t>
            </a:r>
            <a:endParaRPr lang="en-US" sz="1400" dirty="0"/>
          </a:p>
        </p:txBody>
      </p:sp>
      <p:sp>
        <p:nvSpPr>
          <p:cNvPr id="35" name="Step circle 4"/>
          <p:cNvSpPr/>
          <p:nvPr/>
        </p:nvSpPr>
        <p:spPr>
          <a:xfrm>
            <a:off x="5669280" y="3694176"/>
            <a:ext cx="420624" cy="420624"/>
          </a:xfrm>
          <a:prstGeom prst="ellipse">
            <a:avLst/>
          </a:prstGeom>
          <a:solidFill>
            <a:schemeClr val="accent1"/>
          </a:solidFill>
          <a:ln w="12700">
            <a:solidFill>
              <a:schemeClr val="accent1"/>
            </a:solidFill>
            <a:prstDash val="solid"/>
          </a:ln>
        </p:spPr>
      </p:sp>
      <p:sp>
        <p:nvSpPr>
          <p:cNvPr id="36" name="Step number 4"/>
          <p:cNvSpPr txBox="1"/>
          <p:nvPr/>
        </p:nvSpPr>
        <p:spPr>
          <a:xfrm>
            <a:off x="5669280" y="369417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7" name="Step text 4"/>
          <p:cNvSpPr txBox="1"/>
          <p:nvPr/>
        </p:nvSpPr>
        <p:spPr>
          <a:xfrm>
            <a:off x="6263640" y="3621024"/>
            <a:ext cx="2423160" cy="566928"/>
          </a:xfrm>
          <a:prstGeom prst="rect">
            <a:avLst/>
          </a:prstGeom>
          <a:noFill/>
          <a:ln/>
        </p:spPr>
        <p:txBody>
          <a:bodyPr wrap="square" lIns="0" tIns="0" rIns="0" bIns="0" rtlCol="0" anchor="ctr"/>
          <a:lstStyle/>
          <a:p>
            <a:pPr indent="0" marL="0">
              <a:buNone/>
            </a:pPr>
            <a:r>
              <a:rPr lang="en-US" sz="1400" dirty="0">
                <a:solidFill>
                  <a:schemeClr val="tx1"/>
                </a:solidFill>
              </a:rPr>
              <a:t>Marks it reviewed, with a timestamp</a:t>
            </a:r>
            <a:endParaRPr lang="en-US" sz="1400" dirty="0"/>
          </a:p>
        </p:txBody>
      </p:sp>
      <p:sp>
        <p:nvSpPr>
          <p:cNvPr id="38" name="In-app note"/>
          <p:cNvSpPr txBox="1"/>
          <p:nvPr/>
        </p:nvSpPr>
        <p:spPr>
          <a:xfrm>
            <a:off x="5669280" y="4279392"/>
            <a:ext cx="3017520" cy="457200"/>
          </a:xfrm>
          <a:prstGeom prst="rect">
            <a:avLst/>
          </a:prstGeom>
          <a:noFill/>
          <a:ln/>
        </p:spPr>
        <p:txBody>
          <a:bodyPr wrap="square" lIns="0" tIns="0" rIns="0" bIns="0" rtlCol="0" anchor="t"/>
          <a:lstStyle/>
          <a:p>
            <a:pPr indent="0" marL="0">
              <a:buNone/>
            </a:pPr>
            <a:r>
              <a:rPr lang="en-US" sz="1200" i="1" dirty="0">
                <a:solidFill>
                  <a:schemeClr val="accent5"/>
                </a:solidFill>
              </a:rPr>
              <a:t>In-app only: no push or emergency alerts. A workflow demo, not a medical alert.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How it is built</a:t>
            </a:r>
            <a:endParaRPr lang="en-US" sz="3400" dirty="0"/>
          </a:p>
        </p:txBody>
      </p:sp>
      <p:sp>
        <p:nvSpPr>
          <p:cNvPr id="3" name="Arch card 1"/>
          <p:cNvSpPr/>
          <p:nvPr/>
        </p:nvSpPr>
        <p:spPr>
          <a:xfrm>
            <a:off x="457200" y="1280160"/>
            <a:ext cx="1874520" cy="25603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4" name="Arch badge 1 circle"/>
          <p:cNvSpPr/>
          <p:nvPr/>
        </p:nvSpPr>
        <p:spPr>
          <a:xfrm>
            <a:off x="640080" y="1463040"/>
            <a:ext cx="566928" cy="566928"/>
          </a:xfrm>
          <a:prstGeom prst="ellipse">
            <a:avLst/>
          </a:prstGeom>
          <a:solidFill>
            <a:schemeClr val="accent1"/>
          </a:solidFill>
          <a:ln w="12700">
            <a:solidFill>
              <a:schemeClr val="accent1"/>
            </a:solidFill>
            <a:prstDash val="solid"/>
          </a:ln>
        </p:spPr>
      </p:sp>
      <p:pic>
        <p:nvPicPr>
          <p:cNvPr id="5" name="Arch badge 1 icon" descr="preencoded.png">    </p:cNvPr>
          <p:cNvPicPr>
            <a:picLocks noChangeAspect="1"/>
          </p:cNvPicPr>
          <p:nvPr/>
        </p:nvPicPr>
        <p:blipFill>
          <a:blip r:embed="rId1"/>
          <a:stretch>
            <a:fillRect/>
          </a:stretch>
        </p:blipFill>
        <p:spPr>
          <a:xfrm>
            <a:off x="787481" y="1610441"/>
            <a:ext cx="272125" cy="272125"/>
          </a:xfrm>
          <a:prstGeom prst="rect">
            <a:avLst/>
          </a:prstGeom>
        </p:spPr>
      </p:pic>
      <p:sp>
        <p:nvSpPr>
          <p:cNvPr id="6" name="Arch head 1"/>
          <p:cNvSpPr txBox="1"/>
          <p:nvPr/>
        </p:nvSpPr>
        <p:spPr>
          <a:xfrm>
            <a:off x="640080" y="2148840"/>
            <a:ext cx="1554480" cy="320040"/>
          </a:xfrm>
          <a:prstGeom prst="rect">
            <a:avLst/>
          </a:prstGeom>
          <a:noFill/>
          <a:ln/>
        </p:spPr>
        <p:txBody>
          <a:bodyPr wrap="square" lIns="0" tIns="0" rIns="0" bIns="0" rtlCol="0" anchor="ctr"/>
          <a:lstStyle/>
          <a:p>
            <a:pPr indent="0" marL="0">
              <a:buNone/>
            </a:pPr>
            <a:r>
              <a:rPr lang="en-US" sz="1800" b="1" dirty="0">
                <a:solidFill>
                  <a:schemeClr val="tx2"/>
                </a:solidFill>
              </a:rPr>
              <a:t>Data in</a:t>
            </a:r>
            <a:endParaRPr lang="en-US" sz="1800" dirty="0"/>
          </a:p>
        </p:txBody>
      </p:sp>
      <p:sp>
        <p:nvSpPr>
          <p:cNvPr id="7" name="Arch list 1"/>
          <p:cNvSpPr txBox="1"/>
          <p:nvPr/>
        </p:nvSpPr>
        <p:spPr>
          <a:xfrm>
            <a:off x="640080" y="2542032"/>
            <a:ext cx="1600200" cy="11887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Synthea EHR</a:t>
            </a:r>
            <a:endParaRPr lang="en-US" sz="1400" dirty="0"/>
          </a:p>
          <a:p>
            <a:pPr marL="177800" indent="-177800">
              <a:spcAft>
                <a:spcPts val="300"/>
              </a:spcAft>
              <a:buSzPct val="100000"/>
              <a:buChar char="•"/>
            </a:pPr>
            <a:r>
              <a:rPr lang="en-US" sz="1400" dirty="0">
                <a:solidFill>
                  <a:schemeClr val="tx1"/>
                </a:solidFill>
              </a:rPr>
              <a:t>PhysioNet ECG</a:t>
            </a:r>
            <a:endParaRPr lang="en-US" sz="1400" dirty="0"/>
          </a:p>
          <a:p>
            <a:pPr marL="177800" indent="-177800">
              <a:spcAft>
                <a:spcPts val="300"/>
              </a:spcAft>
              <a:buSzPct val="100000"/>
              <a:buChar char="•"/>
            </a:pPr>
            <a:r>
              <a:rPr lang="en-US" sz="1400" dirty="0">
                <a:solidFill>
                  <a:schemeClr val="tx1"/>
                </a:solidFill>
              </a:rPr>
              <a:t>Simulated wearables</a:t>
            </a:r>
            <a:endParaRPr lang="en-US" sz="1400" dirty="0"/>
          </a:p>
        </p:txBody>
      </p:sp>
      <p:sp>
        <p:nvSpPr>
          <p:cNvPr id="8" name="Arch arrow 1"/>
          <p:cNvSpPr/>
          <p:nvPr/>
        </p:nvSpPr>
        <p:spPr>
          <a:xfrm>
            <a:off x="2350008" y="2542032"/>
            <a:ext cx="219456" cy="0"/>
          </a:xfrm>
          <a:prstGeom prst="line">
            <a:avLst/>
          </a:prstGeom>
          <a:noFill/>
          <a:ln w="25400">
            <a:solidFill>
              <a:schemeClr val="accent1"/>
            </a:solidFill>
            <a:prstDash val="solid"/>
            <a:tailEnd type="triangle"/>
          </a:ln>
        </p:spPr>
      </p:sp>
      <p:sp>
        <p:nvSpPr>
          <p:cNvPr id="9" name="Arch card 2"/>
          <p:cNvSpPr/>
          <p:nvPr/>
        </p:nvSpPr>
        <p:spPr>
          <a:xfrm>
            <a:off x="2587752" y="1280160"/>
            <a:ext cx="1874520" cy="25603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0" name="Arch badge 2 circle"/>
          <p:cNvSpPr/>
          <p:nvPr/>
        </p:nvSpPr>
        <p:spPr>
          <a:xfrm>
            <a:off x="2770632" y="1463040"/>
            <a:ext cx="566928" cy="566928"/>
          </a:xfrm>
          <a:prstGeom prst="ellipse">
            <a:avLst/>
          </a:prstGeom>
          <a:solidFill>
            <a:schemeClr val="accent1"/>
          </a:solidFill>
          <a:ln w="12700">
            <a:solidFill>
              <a:schemeClr val="accent1"/>
            </a:solidFill>
            <a:prstDash val="solid"/>
          </a:ln>
        </p:spPr>
      </p:sp>
      <p:pic>
        <p:nvPicPr>
          <p:cNvPr id="11" name="Arch badge 2 icon" descr="preencoded.png">    </p:cNvPr>
          <p:cNvPicPr>
            <a:picLocks noChangeAspect="1"/>
          </p:cNvPicPr>
          <p:nvPr/>
        </p:nvPicPr>
        <p:blipFill>
          <a:blip r:embed="rId2"/>
          <a:stretch>
            <a:fillRect/>
          </a:stretch>
        </p:blipFill>
        <p:spPr>
          <a:xfrm>
            <a:off x="2918033" y="1610441"/>
            <a:ext cx="272125" cy="272125"/>
          </a:xfrm>
          <a:prstGeom prst="rect">
            <a:avLst/>
          </a:prstGeom>
        </p:spPr>
      </p:pic>
      <p:sp>
        <p:nvSpPr>
          <p:cNvPr id="12" name="Arch head 2"/>
          <p:cNvSpPr txBox="1"/>
          <p:nvPr/>
        </p:nvSpPr>
        <p:spPr>
          <a:xfrm>
            <a:off x="2770632" y="2148840"/>
            <a:ext cx="1554480" cy="320040"/>
          </a:xfrm>
          <a:prstGeom prst="rect">
            <a:avLst/>
          </a:prstGeom>
          <a:noFill/>
          <a:ln/>
        </p:spPr>
        <p:txBody>
          <a:bodyPr wrap="square" lIns="0" tIns="0" rIns="0" bIns="0" rtlCol="0" anchor="ctr"/>
          <a:lstStyle/>
          <a:p>
            <a:pPr indent="0" marL="0">
              <a:buNone/>
            </a:pPr>
            <a:r>
              <a:rPr lang="en-US" sz="1800" b="1" dirty="0">
                <a:solidFill>
                  <a:schemeClr val="tx2"/>
                </a:solidFill>
              </a:rPr>
              <a:t>Processing</a:t>
            </a:r>
            <a:endParaRPr lang="en-US" sz="1800" dirty="0"/>
          </a:p>
        </p:txBody>
      </p:sp>
      <p:sp>
        <p:nvSpPr>
          <p:cNvPr id="13" name="Arch list 2"/>
          <p:cNvSpPr txBox="1"/>
          <p:nvPr/>
        </p:nvSpPr>
        <p:spPr>
          <a:xfrm>
            <a:off x="2770632" y="2542032"/>
            <a:ext cx="1600200" cy="11887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HRV features</a:t>
            </a:r>
            <a:endParaRPr lang="en-US" sz="1400" dirty="0"/>
          </a:p>
          <a:p>
            <a:pPr marL="177800" indent="-177800">
              <a:spcAft>
                <a:spcPts val="300"/>
              </a:spcAft>
              <a:buSzPct val="100000"/>
              <a:buChar char="•"/>
            </a:pPr>
            <a:r>
              <a:rPr lang="en-US" sz="1400" dirty="0">
                <a:solidFill>
                  <a:schemeClr val="tx1"/>
                </a:solidFill>
              </a:rPr>
              <a:t>XGBoost model</a:t>
            </a:r>
            <a:endParaRPr lang="en-US" sz="1400" dirty="0"/>
          </a:p>
          <a:p>
            <a:pPr marL="177800" indent="-177800">
              <a:spcAft>
                <a:spcPts val="300"/>
              </a:spcAft>
              <a:buSzPct val="100000"/>
              <a:buChar char="•"/>
            </a:pPr>
            <a:r>
              <a:rPr lang="en-US" sz="1400" dirty="0">
                <a:solidFill>
                  <a:schemeClr val="tx1"/>
                </a:solidFill>
              </a:rPr>
              <a:t>Watch rule</a:t>
            </a:r>
            <a:endParaRPr lang="en-US" sz="1400" dirty="0"/>
          </a:p>
        </p:txBody>
      </p:sp>
      <p:sp>
        <p:nvSpPr>
          <p:cNvPr id="14" name="Arch arrow 2"/>
          <p:cNvSpPr/>
          <p:nvPr/>
        </p:nvSpPr>
        <p:spPr>
          <a:xfrm>
            <a:off x="4480560" y="2542032"/>
            <a:ext cx="219456" cy="0"/>
          </a:xfrm>
          <a:prstGeom prst="line">
            <a:avLst/>
          </a:prstGeom>
          <a:noFill/>
          <a:ln w="25400">
            <a:solidFill>
              <a:schemeClr val="accent1"/>
            </a:solidFill>
            <a:prstDash val="solid"/>
            <a:tailEnd type="triangle"/>
          </a:ln>
        </p:spPr>
      </p:sp>
      <p:sp>
        <p:nvSpPr>
          <p:cNvPr id="15" name="Arch card 3"/>
          <p:cNvSpPr/>
          <p:nvPr/>
        </p:nvSpPr>
        <p:spPr>
          <a:xfrm>
            <a:off x="4718304" y="1280160"/>
            <a:ext cx="1874520" cy="25603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6" name="Arch badge 3 circle"/>
          <p:cNvSpPr/>
          <p:nvPr/>
        </p:nvSpPr>
        <p:spPr>
          <a:xfrm>
            <a:off x="4901184" y="1463040"/>
            <a:ext cx="566928" cy="566928"/>
          </a:xfrm>
          <a:prstGeom prst="ellipse">
            <a:avLst/>
          </a:prstGeom>
          <a:solidFill>
            <a:schemeClr val="accent1"/>
          </a:solidFill>
          <a:ln w="12700">
            <a:solidFill>
              <a:schemeClr val="accent1"/>
            </a:solidFill>
            <a:prstDash val="solid"/>
          </a:ln>
        </p:spPr>
      </p:sp>
      <p:pic>
        <p:nvPicPr>
          <p:cNvPr id="17" name="Arch badge 3 icon" descr="preencoded.png">    </p:cNvPr>
          <p:cNvPicPr>
            <a:picLocks noChangeAspect="1"/>
          </p:cNvPicPr>
          <p:nvPr/>
        </p:nvPicPr>
        <p:blipFill>
          <a:blip r:embed="rId3"/>
          <a:stretch>
            <a:fillRect/>
          </a:stretch>
        </p:blipFill>
        <p:spPr>
          <a:xfrm>
            <a:off x="5048585" y="1610441"/>
            <a:ext cx="272125" cy="272125"/>
          </a:xfrm>
          <a:prstGeom prst="rect">
            <a:avLst/>
          </a:prstGeom>
        </p:spPr>
      </p:pic>
      <p:sp>
        <p:nvSpPr>
          <p:cNvPr id="18" name="Arch head 3"/>
          <p:cNvSpPr txBox="1"/>
          <p:nvPr/>
        </p:nvSpPr>
        <p:spPr>
          <a:xfrm>
            <a:off x="4901184" y="2148840"/>
            <a:ext cx="1554480" cy="320040"/>
          </a:xfrm>
          <a:prstGeom prst="rect">
            <a:avLst/>
          </a:prstGeom>
          <a:noFill/>
          <a:ln/>
        </p:spPr>
        <p:txBody>
          <a:bodyPr wrap="square" lIns="0" tIns="0" rIns="0" bIns="0" rtlCol="0" anchor="ctr"/>
          <a:lstStyle/>
          <a:p>
            <a:pPr indent="0" marL="0">
              <a:buNone/>
            </a:pPr>
            <a:r>
              <a:rPr lang="en-US" sz="1800" b="1" dirty="0">
                <a:solidFill>
                  <a:schemeClr val="tx2"/>
                </a:solidFill>
              </a:rPr>
              <a:t>Storage</a:t>
            </a:r>
            <a:endParaRPr lang="en-US" sz="1800" dirty="0"/>
          </a:p>
        </p:txBody>
      </p:sp>
      <p:sp>
        <p:nvSpPr>
          <p:cNvPr id="19" name="Arch list 3"/>
          <p:cNvSpPr txBox="1"/>
          <p:nvPr/>
        </p:nvSpPr>
        <p:spPr>
          <a:xfrm>
            <a:off x="4901184" y="2542032"/>
            <a:ext cx="1600200" cy="11887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PostgreSQL</a:t>
            </a:r>
            <a:endParaRPr lang="en-US" sz="1400" dirty="0"/>
          </a:p>
          <a:p>
            <a:pPr marL="177800" indent="-177800">
              <a:spcAft>
                <a:spcPts val="300"/>
              </a:spcAft>
              <a:buSzPct val="100000"/>
              <a:buChar char="•"/>
            </a:pPr>
            <a:r>
              <a:rPr lang="en-US" sz="1400" dirty="0">
                <a:solidFill>
                  <a:schemeClr val="tx1"/>
                </a:solidFill>
              </a:rPr>
              <a:t>SQLAlchemy</a:t>
            </a:r>
            <a:endParaRPr lang="en-US" sz="1400" dirty="0"/>
          </a:p>
          <a:p>
            <a:pPr marL="177800" indent="-177800">
              <a:spcAft>
                <a:spcPts val="300"/>
              </a:spcAft>
              <a:buSzPct val="100000"/>
              <a:buChar char="•"/>
            </a:pPr>
            <a:r>
              <a:rPr lang="en-US" sz="1400" dirty="0">
                <a:solidFill>
                  <a:schemeClr val="tx1"/>
                </a:solidFill>
              </a:rPr>
              <a:t>Docker Compose</a:t>
            </a:r>
            <a:endParaRPr lang="en-US" sz="1400" dirty="0"/>
          </a:p>
        </p:txBody>
      </p:sp>
      <p:sp>
        <p:nvSpPr>
          <p:cNvPr id="20" name="Arch arrow 3"/>
          <p:cNvSpPr/>
          <p:nvPr/>
        </p:nvSpPr>
        <p:spPr>
          <a:xfrm>
            <a:off x="6611112" y="2542032"/>
            <a:ext cx="219456" cy="0"/>
          </a:xfrm>
          <a:prstGeom prst="line">
            <a:avLst/>
          </a:prstGeom>
          <a:noFill/>
          <a:ln w="25400">
            <a:solidFill>
              <a:schemeClr val="accent1"/>
            </a:solidFill>
            <a:prstDash val="solid"/>
            <a:tailEnd type="triangle"/>
          </a:ln>
        </p:spPr>
      </p:sp>
      <p:sp>
        <p:nvSpPr>
          <p:cNvPr id="21" name="Arch card 4"/>
          <p:cNvSpPr/>
          <p:nvPr/>
        </p:nvSpPr>
        <p:spPr>
          <a:xfrm>
            <a:off x="6848856" y="1280160"/>
            <a:ext cx="1874520" cy="25603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22" name="Arch badge 4 circle"/>
          <p:cNvSpPr/>
          <p:nvPr/>
        </p:nvSpPr>
        <p:spPr>
          <a:xfrm>
            <a:off x="7031736" y="1463040"/>
            <a:ext cx="566928" cy="566928"/>
          </a:xfrm>
          <a:prstGeom prst="ellipse">
            <a:avLst/>
          </a:prstGeom>
          <a:solidFill>
            <a:schemeClr val="accent1"/>
          </a:solidFill>
          <a:ln w="12700">
            <a:solidFill>
              <a:schemeClr val="accent1"/>
            </a:solidFill>
            <a:prstDash val="solid"/>
          </a:ln>
        </p:spPr>
      </p:sp>
      <p:pic>
        <p:nvPicPr>
          <p:cNvPr id="23" name="Arch badge 4 icon" descr="preencoded.png">    </p:cNvPr>
          <p:cNvPicPr>
            <a:picLocks noChangeAspect="1"/>
          </p:cNvPicPr>
          <p:nvPr/>
        </p:nvPicPr>
        <p:blipFill>
          <a:blip r:embed="rId4"/>
          <a:stretch>
            <a:fillRect/>
          </a:stretch>
        </p:blipFill>
        <p:spPr>
          <a:xfrm>
            <a:off x="7179137" y="1610441"/>
            <a:ext cx="272125" cy="272125"/>
          </a:xfrm>
          <a:prstGeom prst="rect">
            <a:avLst/>
          </a:prstGeom>
        </p:spPr>
      </p:pic>
      <p:sp>
        <p:nvSpPr>
          <p:cNvPr id="24" name="Arch head 4"/>
          <p:cNvSpPr txBox="1"/>
          <p:nvPr/>
        </p:nvSpPr>
        <p:spPr>
          <a:xfrm>
            <a:off x="7031736" y="2148840"/>
            <a:ext cx="1554480" cy="320040"/>
          </a:xfrm>
          <a:prstGeom prst="rect">
            <a:avLst/>
          </a:prstGeom>
          <a:noFill/>
          <a:ln/>
        </p:spPr>
        <p:txBody>
          <a:bodyPr wrap="square" lIns="0" tIns="0" rIns="0" bIns="0" rtlCol="0" anchor="ctr"/>
          <a:lstStyle/>
          <a:p>
            <a:pPr indent="0" marL="0">
              <a:buNone/>
            </a:pPr>
            <a:r>
              <a:rPr lang="en-US" sz="1800" b="1" dirty="0">
                <a:solidFill>
                  <a:schemeClr val="tx2"/>
                </a:solidFill>
              </a:rPr>
              <a:t>Clinician app</a:t>
            </a:r>
            <a:endParaRPr lang="en-US" sz="1800" dirty="0"/>
          </a:p>
        </p:txBody>
      </p:sp>
      <p:sp>
        <p:nvSpPr>
          <p:cNvPr id="25" name="Arch list 4"/>
          <p:cNvSpPr txBox="1"/>
          <p:nvPr/>
        </p:nvSpPr>
        <p:spPr>
          <a:xfrm>
            <a:off x="7031736" y="2542032"/>
            <a:ext cx="1600200" cy="11887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FastAPI + Jinja</a:t>
            </a:r>
            <a:endParaRPr lang="en-US" sz="1400" dirty="0"/>
          </a:p>
          <a:p>
            <a:pPr marL="177800" indent="-177800">
              <a:spcAft>
                <a:spcPts val="300"/>
              </a:spcAft>
              <a:buSzPct val="100000"/>
              <a:buChar char="•"/>
            </a:pPr>
            <a:r>
              <a:rPr lang="en-US" sz="1400" dirty="0">
                <a:solidFill>
                  <a:schemeClr val="tx1"/>
                </a:solidFill>
              </a:rPr>
              <a:t>Review queue</a:t>
            </a:r>
            <a:endParaRPr lang="en-US" sz="1400" dirty="0"/>
          </a:p>
          <a:p>
            <a:pPr marL="177800" indent="-177800">
              <a:spcAft>
                <a:spcPts val="300"/>
              </a:spcAft>
              <a:buSzPct val="100000"/>
              <a:buChar char="•"/>
            </a:pPr>
            <a:r>
              <a:rPr lang="en-US" sz="1400" dirty="0">
                <a:solidFill>
                  <a:schemeClr val="tx1"/>
                </a:solidFill>
              </a:rPr>
              <a:t>Model details</a:t>
            </a:r>
            <a:endParaRPr lang="en-US" sz="1400" dirty="0"/>
          </a:p>
        </p:txBody>
      </p:sp>
      <p:sp>
        <p:nvSpPr>
          <p:cNvPr id="26" name="Repro banner"/>
          <p:cNvSpPr/>
          <p:nvPr/>
        </p:nvSpPr>
        <p:spPr>
          <a:xfrm>
            <a:off x="457200" y="4023360"/>
            <a:ext cx="8229600" cy="548640"/>
          </a:xfrm>
          <a:prstGeom prst="roundRect">
            <a:avLst>
              <a:gd name="adj" fmla="val 20000"/>
            </a:avLst>
          </a:prstGeom>
          <a:solidFill>
            <a:schemeClr val="accent1"/>
          </a:solidFill>
          <a:ln w="12700">
            <a:solidFill>
              <a:schemeClr val="accent1"/>
            </a:solidFill>
            <a:prstDash val="solid"/>
          </a:ln>
        </p:spPr>
      </p:sp>
      <p:sp>
        <p:nvSpPr>
          <p:cNvPr id="27" name="Repro text"/>
          <p:cNvSpPr txBox="1"/>
          <p:nvPr/>
        </p:nvSpPr>
        <p:spPr>
          <a:xfrm>
            <a:off x="731520" y="4023360"/>
            <a:ext cx="7680960" cy="548640"/>
          </a:xfrm>
          <a:prstGeom prst="rect">
            <a:avLst/>
          </a:prstGeom>
          <a:noFill/>
          <a:ln/>
        </p:spPr>
        <p:txBody>
          <a:bodyPr wrap="square" lIns="0" tIns="0" rIns="0" bIns="0" rtlCol="0" anchor="ctr"/>
          <a:lstStyle/>
          <a:p>
            <a:pPr indent="0" marL="0">
              <a:buNone/>
            </a:pPr>
            <a:r>
              <a:rPr lang="en-US" sz="1600" b="1" dirty="0">
                <a:solidFill>
                  <a:schemeClr val="bg1"/>
                </a:solidFill>
              </a:rPr>
              <a:t>Runs on a laptop: five scripts rebuild the whole demo from raw data.</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Honest scope, clear next step</a:t>
            </a:r>
            <a:endParaRPr lang="en-US" sz="3400" dirty="0"/>
          </a:p>
        </p:txBody>
      </p:sp>
      <p:sp>
        <p:nvSpPr>
          <p:cNvPr id="3" name="Is card"/>
          <p:cNvSpPr/>
          <p:nvPr/>
        </p:nvSpPr>
        <p:spPr>
          <a:xfrm>
            <a:off x="457200" y="1234440"/>
            <a:ext cx="3977640" cy="1920240"/>
          </a:xfrm>
          <a:prstGeom prst="roundRect">
            <a:avLst>
              <a:gd name="adj" fmla="val 5714"/>
            </a:avLst>
          </a:prstGeom>
          <a:solidFill>
            <a:schemeClr val="bg2"/>
          </a:solidFill>
          <a:ln w="12700">
            <a:solidFill>
              <a:schemeClr val="bg2"/>
            </a:solidFill>
            <a:prstDash val="solid"/>
          </a:ln>
        </p:spPr>
      </p:sp>
      <p:sp>
        <p:nvSpPr>
          <p:cNvPr id="4" name="Isnt card"/>
          <p:cNvSpPr/>
          <p:nvPr/>
        </p:nvSpPr>
        <p:spPr>
          <a:xfrm>
            <a:off x="4709160" y="1234440"/>
            <a:ext cx="3977640" cy="1920240"/>
          </a:xfrm>
          <a:prstGeom prst="roundRect">
            <a:avLst>
              <a:gd name="adj" fmla="val 5714"/>
            </a:avLst>
          </a:prstGeom>
          <a:solidFill>
            <a:schemeClr val="bg2"/>
          </a:solidFill>
          <a:ln w="12700">
            <a:solidFill>
              <a:schemeClr val="bg2"/>
            </a:solidFill>
            <a:prstDash val="solid"/>
          </a:ln>
        </p:spPr>
      </p:sp>
      <p:pic>
        <p:nvPicPr>
          <p:cNvPr id="5" name="Is icon" descr="preencoded.png">    </p:cNvPr>
          <p:cNvPicPr>
            <a:picLocks noChangeAspect="1"/>
          </p:cNvPicPr>
          <p:nvPr/>
        </p:nvPicPr>
        <p:blipFill>
          <a:blip r:embed="rId1"/>
          <a:stretch>
            <a:fillRect/>
          </a:stretch>
        </p:blipFill>
        <p:spPr>
          <a:xfrm>
            <a:off x="658368" y="1389888"/>
            <a:ext cx="347472" cy="347472"/>
          </a:xfrm>
          <a:prstGeom prst="rect">
            <a:avLst/>
          </a:prstGeom>
        </p:spPr>
      </p:pic>
      <p:sp>
        <p:nvSpPr>
          <p:cNvPr id="6" name="Is head"/>
          <p:cNvSpPr txBox="1"/>
          <p:nvPr/>
        </p:nvSpPr>
        <p:spPr>
          <a:xfrm>
            <a:off x="1097280" y="1371600"/>
            <a:ext cx="3108960" cy="384048"/>
          </a:xfrm>
          <a:prstGeom prst="rect">
            <a:avLst/>
          </a:prstGeom>
          <a:noFill/>
          <a:ln/>
        </p:spPr>
        <p:txBody>
          <a:bodyPr wrap="square" lIns="0" tIns="0" rIns="0" bIns="0" rtlCol="0" anchor="ctr"/>
          <a:lstStyle/>
          <a:p>
            <a:pPr indent="0" marL="0">
              <a:buNone/>
            </a:pPr>
            <a:r>
              <a:rPr lang="en-US" sz="1800" b="1" dirty="0">
                <a:solidFill>
                  <a:schemeClr val="tx2"/>
                </a:solidFill>
              </a:rPr>
              <a:t>What it is</a:t>
            </a:r>
            <a:endParaRPr lang="en-US" sz="1800" dirty="0"/>
          </a:p>
        </p:txBody>
      </p:sp>
      <p:sp>
        <p:nvSpPr>
          <p:cNvPr id="7" name="Is list"/>
          <p:cNvSpPr txBox="1"/>
          <p:nvPr/>
        </p:nvSpPr>
        <p:spPr>
          <a:xfrm>
            <a:off x="658368" y="1874520"/>
            <a:ext cx="3611880" cy="13258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A transparent rule-based demo watch</a:t>
            </a:r>
            <a:endParaRPr lang="en-US" sz="1400" dirty="0"/>
          </a:p>
          <a:p>
            <a:pPr marL="177800" indent="-177800">
              <a:spcAft>
                <a:spcPts val="400"/>
              </a:spcAft>
              <a:buSzPct val="100000"/>
              <a:buChar char="•"/>
            </a:pPr>
            <a:r>
              <a:rPr lang="en-US" sz="1400" dirty="0">
                <a:solidFill>
                  <a:schemeClr val="tx1"/>
                </a:solidFill>
              </a:rPr>
              <a:t>A clinician review workflow concept</a:t>
            </a:r>
            <a:endParaRPr lang="en-US" sz="1400" dirty="0"/>
          </a:p>
          <a:p>
            <a:pPr marL="177800" indent="-177800">
              <a:spcAft>
                <a:spcPts val="400"/>
              </a:spcAft>
              <a:buSzPct val="100000"/>
              <a:buChar char="•"/>
            </a:pPr>
            <a:r>
              <a:rPr lang="en-US" sz="1400" dirty="0">
                <a:solidFill>
                  <a:schemeClr val="tx1"/>
                </a:solidFill>
              </a:rPr>
              <a:t>An ECG model with an “unsure” state</a:t>
            </a:r>
            <a:endParaRPr lang="en-US" sz="1400" dirty="0"/>
          </a:p>
        </p:txBody>
      </p:sp>
      <p:pic>
        <p:nvPicPr>
          <p:cNvPr id="8" name="Isnt icon" descr="preencoded.png">    </p:cNvPr>
          <p:cNvPicPr>
            <a:picLocks noChangeAspect="1"/>
          </p:cNvPicPr>
          <p:nvPr/>
        </p:nvPicPr>
        <p:blipFill>
          <a:blip r:embed="rId2"/>
          <a:stretch>
            <a:fillRect/>
          </a:stretch>
        </p:blipFill>
        <p:spPr>
          <a:xfrm>
            <a:off x="4910328" y="1389888"/>
            <a:ext cx="347472" cy="347472"/>
          </a:xfrm>
          <a:prstGeom prst="rect">
            <a:avLst/>
          </a:prstGeom>
        </p:spPr>
      </p:pic>
      <p:sp>
        <p:nvSpPr>
          <p:cNvPr id="9" name="Isnt head"/>
          <p:cNvSpPr txBox="1"/>
          <p:nvPr/>
        </p:nvSpPr>
        <p:spPr>
          <a:xfrm>
            <a:off x="5349240" y="1371600"/>
            <a:ext cx="3108960" cy="384048"/>
          </a:xfrm>
          <a:prstGeom prst="rect">
            <a:avLst/>
          </a:prstGeom>
          <a:noFill/>
          <a:ln/>
        </p:spPr>
        <p:txBody>
          <a:bodyPr wrap="square" lIns="0" tIns="0" rIns="0" bIns="0" rtlCol="0" anchor="ctr"/>
          <a:lstStyle/>
          <a:p>
            <a:pPr indent="0" marL="0">
              <a:buNone/>
            </a:pPr>
            <a:r>
              <a:rPr lang="en-US" sz="1800" b="1" dirty="0">
                <a:solidFill>
                  <a:schemeClr val="tx2"/>
                </a:solidFill>
              </a:rPr>
              <a:t>What it is not</a:t>
            </a:r>
            <a:endParaRPr lang="en-US" sz="1800" dirty="0"/>
          </a:p>
        </p:txBody>
      </p:sp>
      <p:sp>
        <p:nvSpPr>
          <p:cNvPr id="10" name="Isnt list"/>
          <p:cNvSpPr txBox="1"/>
          <p:nvPr/>
        </p:nvSpPr>
        <p:spPr>
          <a:xfrm>
            <a:off x="4910328" y="1874520"/>
            <a:ext cx="3611880" cy="13258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Not a diagnosis or stroke prediction</a:t>
            </a:r>
            <a:endParaRPr lang="en-US" sz="1400" dirty="0"/>
          </a:p>
          <a:p>
            <a:pPr marL="177800" indent="-177800">
              <a:spcAft>
                <a:spcPts val="400"/>
              </a:spcAft>
              <a:buSzPct val="100000"/>
              <a:buChar char="•"/>
            </a:pPr>
            <a:r>
              <a:rPr lang="en-US" sz="1400" dirty="0">
                <a:solidFill>
                  <a:schemeClr val="tx1"/>
                </a:solidFill>
              </a:rPr>
              <a:t>Not validated on real patients</a:t>
            </a:r>
            <a:endParaRPr lang="en-US" sz="1400" dirty="0"/>
          </a:p>
          <a:p>
            <a:pPr marL="177800" indent="-177800">
              <a:spcAft>
                <a:spcPts val="400"/>
              </a:spcAft>
              <a:buSzPct val="100000"/>
              <a:buChar char="•"/>
            </a:pPr>
            <a:r>
              <a:rPr lang="en-US" sz="1400" dirty="0">
                <a:solidFill>
                  <a:schemeClr val="tx1"/>
                </a:solidFill>
              </a:rPr>
              <a:t>ECGs are randomly assigned, not the patient's own</a:t>
            </a:r>
            <a:endParaRPr lang="en-US" sz="1400" dirty="0"/>
          </a:p>
        </p:txBody>
      </p:sp>
      <p:sp>
        <p:nvSpPr>
          <p:cNvPr id="11" name="Next banner"/>
          <p:cNvSpPr/>
          <p:nvPr/>
        </p:nvSpPr>
        <p:spPr>
          <a:xfrm>
            <a:off x="457200" y="3429000"/>
            <a:ext cx="8229600" cy="1143000"/>
          </a:xfrm>
          <a:prstGeom prst="roundRect">
            <a:avLst>
              <a:gd name="adj" fmla="val 9600"/>
            </a:avLst>
          </a:prstGeom>
          <a:solidFill>
            <a:schemeClr val="accent1"/>
          </a:solidFill>
          <a:ln w="12700">
            <a:solidFill>
              <a:schemeClr val="accent1"/>
            </a:solidFill>
            <a:prstDash val="solid"/>
          </a:ln>
        </p:spPr>
      </p:sp>
      <p:sp>
        <p:nvSpPr>
          <p:cNvPr id="12" name="Next text"/>
          <p:cNvSpPr txBox="1"/>
          <p:nvPr/>
        </p:nvSpPr>
        <p:spPr>
          <a:xfrm>
            <a:off x="731520" y="3429000"/>
            <a:ext cx="7680960" cy="1143000"/>
          </a:xfrm>
          <a:prstGeom prst="rect">
            <a:avLst/>
          </a:prstGeom>
          <a:noFill/>
          <a:ln/>
        </p:spPr>
        <p:txBody>
          <a:bodyPr wrap="square" lIns="0" tIns="0" rIns="0" bIns="0" rtlCol="0" anchor="ctr"/>
          <a:lstStyle/>
          <a:p>
            <a:pPr indent="0" marL="0">
              <a:buNone/>
            </a:pPr>
            <a:r>
              <a:rPr lang="en-US" sz="1600" b="1" dirty="0">
                <a:solidFill>
                  <a:schemeClr val="bg1"/>
                </a:solidFill>
              </a:rPr>
              <a:t>Next research step</a:t>
            </a:r>
            <a:endParaRPr lang="en-US" sz="1600" dirty="0"/>
          </a:p>
          <a:p>
            <a:pPr indent="0" marL="0">
              <a:buNone/>
            </a:pPr>
            <a:r>
              <a:rPr lang="en-US" sz="1400" dirty="0">
                <a:solidFill>
                  <a:schemeClr val="bg1"/>
                </a:solidFill>
              </a:rPr>
              <a:t>Paired longitudinal data (EHR, wearables, outcomes), then patient-level evaluation and external validation.</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trokeTwin">
  <a:themeElements>
    <a:clrScheme name="StrokeTwin">
      <a:dk1>
        <a:srgbClr val="12292B"/>
      </a:dk1>
      <a:lt1>
        <a:srgbClr val="FFFFFF"/>
      </a:lt1>
      <a:dk2>
        <a:srgbClr val="0B3B3A"/>
      </a:dk2>
      <a:lt2>
        <a:srgbClr val="EEF5F2"/>
      </a:lt2>
      <a:accent1>
        <a:srgbClr val="138276"/>
      </a:accent1>
      <a:accent2>
        <a:srgbClr val="49C99E"/>
      </a:accent2>
      <a:accent3>
        <a:srgbClr val="E0883A"/>
      </a:accent3>
      <a:accent4>
        <a:srgbClr val="D4533B"/>
      </a:accent4>
      <a:accent5>
        <a:srgbClr val="4F6D7A"/>
      </a:accent5>
      <a:accent6>
        <a:srgbClr val="A5F3CF"/>
      </a:accent6>
      <a:hlink>
        <a:srgbClr val="138276"/>
      </a:hlink>
      <a:folHlink>
        <a:srgbClr val="4F6D7A"/>
      </a:folHlink>
    </a:clrScheme>
    <a:fontScheme name="Stroke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StrokeTwin</dc:title>
  <dc:subject>PptxGenJS Presentation</dc:subject>
  <dc:creator>StrokeTwin team</dc:creator>
  <cp:lastModifiedBy>StrokeTwin team</cp:lastModifiedBy>
  <cp:revision>1</cp:revision>
  <dcterms:created xsi:type="dcterms:W3CDTF">2026-10-09T10:02:37Z</dcterms:created>
  <dcterms:modified xsi:type="dcterms:W3CDTF">2026-10-09T10:02:37Z</dcterms:modified>
</cp:coreProperties>
</file>